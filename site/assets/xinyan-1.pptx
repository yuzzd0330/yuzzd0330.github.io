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1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22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301" r:id="rId3"/>
    <p:sldId id="258" r:id="rId4"/>
    <p:sldId id="263" r:id="rId5"/>
    <p:sldId id="303" r:id="rId6"/>
    <p:sldId id="273" r:id="rId7"/>
    <p:sldId id="278" r:id="rId8"/>
    <p:sldId id="279" r:id="rId9"/>
    <p:sldId id="280" r:id="rId10"/>
    <p:sldId id="281" r:id="rId11"/>
    <p:sldId id="282" r:id="rId12"/>
    <p:sldId id="274" r:id="rId13"/>
    <p:sldId id="283" r:id="rId14"/>
    <p:sldId id="284" r:id="rId15"/>
    <p:sldId id="285" r:id="rId16"/>
    <p:sldId id="286" r:id="rId17"/>
    <p:sldId id="287" r:id="rId18"/>
    <p:sldId id="275" r:id="rId19"/>
    <p:sldId id="288" r:id="rId20"/>
    <p:sldId id="289" r:id="rId21"/>
    <p:sldId id="290" r:id="rId22"/>
    <p:sldId id="291" r:id="rId23"/>
    <p:sldId id="292" r:id="rId24"/>
    <p:sldId id="276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2" r:id="rId34"/>
  </p:sldIdLst>
  <p:sldSz cx="12192000" cy="6858000"/>
  <p:notesSz cx="6858000" cy="9144000"/>
  <p:embeddedFontLst>
    <p:embeddedFont>
      <p:font typeface="等线" panose="02010600030101010101" pitchFamily="2" charset="-122"/>
      <p:regular r:id="rId36"/>
      <p:bold r:id="rId37"/>
    </p:embeddedFont>
    <p:embeddedFont>
      <p:font typeface="等线 Light" panose="02010600030101010101" pitchFamily="2" charset="-122"/>
      <p:regular r:id="rId3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396"/>
    <a:srgbClr val="E2E2E2"/>
    <a:srgbClr val="404040"/>
    <a:srgbClr val="8497B0"/>
    <a:srgbClr val="325F8D"/>
    <a:srgbClr val="C6D5E8"/>
    <a:srgbClr val="808080"/>
    <a:srgbClr val="365886"/>
    <a:srgbClr val="AA0629"/>
    <a:srgbClr val="BB39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42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3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65281;Y4%20Documents\ACC310\CW1\300159&#26032;&#30740;&#32929;&#20221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Simple!$I$1</c:f>
              <c:strCache>
                <c:ptCount val="1"/>
                <c:pt idx="0">
                  <c:v>account_receivable_growth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Simple!$B$9:$B$11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Simple!$I$9:$I$11</c:f>
              <c:numCache>
                <c:formatCode>0.00%</c:formatCode>
                <c:ptCount val="3"/>
                <c:pt idx="0">
                  <c:v>0.31385474499772203</c:v>
                </c:pt>
                <c:pt idx="1">
                  <c:v>0.43752837678636425</c:v>
                </c:pt>
                <c:pt idx="2">
                  <c:v>-0.16753654200975232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CC-4724-8625-0CB9D2A27B5B}"/>
            </c:ext>
          </c:extLst>
        </c:ser>
        <c:ser>
          <c:idx val="1"/>
          <c:order val="1"/>
          <c:tx>
            <c:strRef>
              <c:f>Simple!$L$1</c:f>
              <c:strCache>
                <c:ptCount val="1"/>
                <c:pt idx="0">
                  <c:v>sales_growth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4ECC-4724-8625-0CB9D2A27B5B}"/>
              </c:ext>
            </c:extLst>
          </c:dPt>
          <c:cat>
            <c:numRef>
              <c:f>Simple!$B$9:$B$11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Simple!$L$9:$L$11</c:f>
              <c:numCache>
                <c:formatCode>0.00%</c:formatCode>
                <c:ptCount val="3"/>
                <c:pt idx="0">
                  <c:v>3.4844791064756464E-2</c:v>
                </c:pt>
                <c:pt idx="1">
                  <c:v>1.3883130505361274E-2</c:v>
                </c:pt>
                <c:pt idx="2">
                  <c:v>-0.33495495403735898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CC-4724-8625-0CB9D2A27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4717807"/>
        <c:axId val="1204718287"/>
      </c:lineChart>
      <c:catAx>
        <c:axId val="1204717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204718287"/>
        <c:crossesAt val="-0.4"/>
        <c:auto val="1"/>
        <c:lblAlgn val="ctr"/>
        <c:lblOffset val="100"/>
        <c:noMultiLvlLbl val="0"/>
      </c:catAx>
      <c:valAx>
        <c:axId val="1204718287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204717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 Ratios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Simple!$H$1</c:f>
              <c:strCache>
                <c:ptCount val="1"/>
                <c:pt idx="0">
                  <c:v>account_receivable_turnover_ratio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Simple!$B$9:$B$11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Simple!$H$9:$H$11</c:f>
              <c:numCache>
                <c:formatCode>0.000</c:formatCode>
                <c:ptCount val="3"/>
                <c:pt idx="0">
                  <c:v>1.432598127953836</c:v>
                </c:pt>
                <c:pt idx="1">
                  <c:v>1.0494248269441397</c:v>
                </c:pt>
                <c:pt idx="2">
                  <c:v>0.64580340127487945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1E-4CE8-877B-CB7B0F49A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8501807"/>
        <c:axId val="228498927"/>
      </c:lineChart>
      <c:lineChart>
        <c:grouping val="standard"/>
        <c:varyColors val="0"/>
        <c:ser>
          <c:idx val="1"/>
          <c:order val="1"/>
          <c:tx>
            <c:strRef>
              <c:f>Simple!$N$1</c:f>
              <c:strCache>
                <c:ptCount val="1"/>
                <c:pt idx="0">
                  <c:v>gross_margin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Simple!$B$9:$B$11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Simple!$N$9:$N$11</c:f>
              <c:numCache>
                <c:formatCode>0.00%</c:formatCode>
                <c:ptCount val="3"/>
                <c:pt idx="0">
                  <c:v>0.43238549760312212</c:v>
                </c:pt>
                <c:pt idx="1">
                  <c:v>0.32752768000728738</c:v>
                </c:pt>
                <c:pt idx="2">
                  <c:v>0.26689711335529159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1E-4CE8-877B-CB7B0F49A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8434607"/>
        <c:axId val="228448047"/>
      </c:lineChart>
      <c:catAx>
        <c:axId val="228501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498927"/>
        <c:crosses val="autoZero"/>
        <c:auto val="1"/>
        <c:lblAlgn val="ctr"/>
        <c:lblOffset val="100"/>
        <c:noMultiLvlLbl val="0"/>
      </c:catAx>
      <c:valAx>
        <c:axId val="228498927"/>
        <c:scaling>
          <c:orientation val="minMax"/>
          <c:min val="0.60000000000000009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501807"/>
        <c:crosses val="autoZero"/>
        <c:crossBetween val="between"/>
        <c:majorUnit val="0.2"/>
      </c:valAx>
      <c:valAx>
        <c:axId val="228448047"/>
        <c:scaling>
          <c:orientation val="minMax"/>
          <c:max val="1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434607"/>
        <c:crosses val="max"/>
        <c:crossBetween val="between"/>
        <c:majorUnit val="0.2"/>
      </c:valAx>
      <c:catAx>
        <c:axId val="2284346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28448047"/>
        <c:crossesAt val="0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alt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alt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Net Cash_Profit 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Simple!$W$1</c:f>
              <c:strCache>
                <c:ptCount val="1"/>
                <c:pt idx="0">
                  <c:v>net_cash_profit_ratio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Simple!$B$9:$B$11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Simple!$W$9:$W$11</c:f>
              <c:numCache>
                <c:formatCode>0.000</c:formatCode>
                <c:ptCount val="3"/>
                <c:pt idx="0">
                  <c:v>-0.28987165627011779</c:v>
                </c:pt>
                <c:pt idx="1">
                  <c:v>0.49768672151984927</c:v>
                </c:pt>
                <c:pt idx="2">
                  <c:v>3.553391521327208E-2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7F-41D9-A66D-F408BABE124D}"/>
            </c:ext>
          </c:extLst>
        </c:ser>
        <c:ser>
          <c:idx val="1"/>
          <c:order val="1"/>
          <c:tx>
            <c:strRef>
              <c:f>Simple!$X$1</c:f>
              <c:strCache>
                <c:ptCount val="1"/>
                <c:pt idx="0">
                  <c:v>net_cash_profit_ratio_mean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Simple!$B$9:$B$11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Simple!$X$9:$X$11</c:f>
              <c:numCache>
                <c:formatCode>0.000</c:formatCode>
                <c:ptCount val="3"/>
                <c:pt idx="0">
                  <c:v>8.1116326821001186E-2</c:v>
                </c:pt>
                <c:pt idx="1">
                  <c:v>8.1116326821001186E-2</c:v>
                </c:pt>
                <c:pt idx="2">
                  <c:v>8.1116326821001186E-2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F-41D9-A66D-F408BABE12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460527"/>
        <c:axId val="228463887"/>
      </c:lineChart>
      <c:catAx>
        <c:axId val="228460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463887"/>
        <c:crossesAt val="-10"/>
        <c:auto val="1"/>
        <c:lblAlgn val="ctr"/>
        <c:lblOffset val="100"/>
        <c:noMultiLvlLbl val="0"/>
      </c:catAx>
      <c:valAx>
        <c:axId val="228463887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460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Account Receivable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ebt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Simple!$AB$1</c:f>
              <c:strCache>
                <c:ptCount val="1"/>
                <c:pt idx="0">
                  <c:v>accountreceivable_baddebt_ratio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Simple!$B$9:$B$14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Simple!$AB$9:$AB$14</c:f>
              <c:numCache>
                <c:formatCode>General</c:formatCode>
                <c:ptCount val="6"/>
                <c:pt idx="0">
                  <c:v>0.1</c:v>
                </c:pt>
                <c:pt idx="1">
                  <c:v>0.10630000000000001</c:v>
                </c:pt>
                <c:pt idx="2">
                  <c:v>0.31469999999999998</c:v>
                </c:pt>
                <c:pt idx="3">
                  <c:v>0.46</c:v>
                </c:pt>
                <c:pt idx="4">
                  <c:v>0.32529999999999998</c:v>
                </c:pt>
                <c:pt idx="5">
                  <c:v>0.19769999999999999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FB-432A-940D-750AEB99F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481647"/>
        <c:axId val="228473967"/>
      </c:lineChart>
      <c:catAx>
        <c:axId val="228481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473967"/>
        <c:crosses val="autoZero"/>
        <c:auto val="1"/>
        <c:lblAlgn val="ctr"/>
        <c:lblOffset val="100"/>
        <c:noMultiLvlLbl val="0"/>
      </c:catAx>
      <c:valAx>
        <c:axId val="228473967"/>
        <c:scaling>
          <c:orientation val="minMax"/>
          <c:min val="5.000000000000001E-2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28481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eceivable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Complex!$AG$1</c:f>
              <c:strCache>
                <c:ptCount val="1"/>
                <c:pt idx="0">
                  <c:v>other_receivable_growth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Complex!$B$9:$B$11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Complex!$AG$9:$AG$11</c:f>
              <c:numCache>
                <c:formatCode>0.00%</c:formatCode>
                <c:ptCount val="3"/>
                <c:pt idx="0">
                  <c:v>1.0787149999622603E-2</c:v>
                </c:pt>
                <c:pt idx="1">
                  <c:v>5.2294489193361482</c:v>
                </c:pt>
                <c:pt idx="2">
                  <c:v>4.353449224761305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52-45A8-9B79-7FA1DD98A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3977327"/>
        <c:axId val="1043985967"/>
      </c:lineChart>
      <c:catAx>
        <c:axId val="1043977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043985967"/>
        <c:crosses val="autoZero"/>
        <c:auto val="1"/>
        <c:lblAlgn val="ctr"/>
        <c:lblOffset val="100"/>
        <c:noMultiLvlLbl val="0"/>
      </c:catAx>
      <c:valAx>
        <c:axId val="1043985967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043977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eceivable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urnover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0653441862287858E-2"/>
          <c:y val="0.1622045290057445"/>
          <c:w val="0.88598132641683469"/>
          <c:h val="0.72450628539365991"/>
        </c:manualLayout>
      </c:layout>
      <c:lineChart>
        <c:grouping val="standard"/>
        <c:varyColors val="0"/>
        <c:ser>
          <c:idx val="0"/>
          <c:order val="0"/>
          <c:tx>
            <c:strRef>
              <c:f>Complex!$AH$1</c:f>
              <c:strCache>
                <c:ptCount val="1"/>
                <c:pt idx="0">
                  <c:v>other_receivable_turnover_ratio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Complex!$B$9:$B$11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Complex!$AH$9:$AH$11</c:f>
              <c:numCache>
                <c:formatCode>0.000</c:formatCode>
                <c:ptCount val="3"/>
                <c:pt idx="0">
                  <c:v>288.60199156089504</c:v>
                </c:pt>
                <c:pt idx="1">
                  <c:v>80.517154121388643</c:v>
                </c:pt>
                <c:pt idx="2">
                  <c:v>9.7810500228706001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96-410D-A3CB-8AD846C7C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7385455"/>
        <c:axId val="247385935"/>
      </c:lineChart>
      <c:catAx>
        <c:axId val="247385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47385935"/>
        <c:crosses val="autoZero"/>
        <c:auto val="1"/>
        <c:lblAlgn val="ctr"/>
        <c:lblOffset val="100"/>
        <c:noMultiLvlLbl val="0"/>
      </c:catAx>
      <c:valAx>
        <c:axId val="24738593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247385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Prepayment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Complex!$AC$1</c:f>
              <c:strCache>
                <c:ptCount val="1"/>
                <c:pt idx="0">
                  <c:v>prepayment_growth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Complex!$B$9:$B$11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Complex!$AC$9:$AC$11</c:f>
              <c:numCache>
                <c:formatCode>0.00%</c:formatCode>
                <c:ptCount val="3"/>
                <c:pt idx="0">
                  <c:v>2.7427174568598831</c:v>
                </c:pt>
                <c:pt idx="1">
                  <c:v>-0.17727070109044984</c:v>
                </c:pt>
                <c:pt idx="2">
                  <c:v>-0.3884062715743104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7C-4ED7-99DB-61AA04162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8985967"/>
        <c:axId val="1118988367"/>
      </c:lineChart>
      <c:catAx>
        <c:axId val="1118985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88367"/>
        <c:crossesAt val="-1"/>
        <c:auto val="1"/>
        <c:lblAlgn val="ctr"/>
        <c:lblOffset val="100"/>
        <c:noMultiLvlLbl val="0"/>
      </c:catAx>
      <c:valAx>
        <c:axId val="1118988367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85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Prepayment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urnover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Complex!$AB$1</c:f>
              <c:strCache>
                <c:ptCount val="1"/>
                <c:pt idx="0">
                  <c:v>prepayment_turnover_ratio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Complex!$B$9:$B$11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Complex!$AB$9:$AB$11</c:f>
              <c:numCache>
                <c:formatCode>0.000</c:formatCode>
                <c:ptCount val="3"/>
                <c:pt idx="0">
                  <c:v>6.2459887242360086</c:v>
                </c:pt>
                <c:pt idx="1">
                  <c:v>5.2158856073841395</c:v>
                </c:pt>
                <c:pt idx="2">
                  <c:v>5.1985147411654431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B8-4A4A-9480-9D7620B46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8956687"/>
        <c:axId val="1118963407"/>
      </c:lineChart>
      <c:catAx>
        <c:axId val="1118956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63407"/>
        <c:crosses val="autoZero"/>
        <c:auto val="1"/>
        <c:lblAlgn val="ctr"/>
        <c:lblOffset val="100"/>
        <c:noMultiLvlLbl val="0"/>
      </c:catAx>
      <c:valAx>
        <c:axId val="1118963407"/>
        <c:scaling>
          <c:orientation val="minMax"/>
          <c:min val="5"/>
        </c:scaling>
        <c:delete val="0"/>
        <c:axPos val="l"/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56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Growth Comparison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'Inflated Cost'!$AS$1</c:f>
              <c:strCache>
                <c:ptCount val="1"/>
                <c:pt idx="0">
                  <c:v>account_payable_growth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'Inflated Cost'!$B$9:$B$11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'Inflated Cost'!$AS$9:$AS$11</c:f>
              <c:numCache>
                <c:formatCode>General</c:formatCode>
                <c:ptCount val="3"/>
                <c:pt idx="0">
                  <c:v>-7.413107214121395E-2</c:v>
                </c:pt>
                <c:pt idx="1">
                  <c:v>0.2038560366919846</c:v>
                </c:pt>
                <c:pt idx="2">
                  <c:v>0.56240296203182427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B8-4713-967C-00C014A7EE99}"/>
            </c:ext>
          </c:extLst>
        </c:ser>
        <c:ser>
          <c:idx val="1"/>
          <c:order val="1"/>
          <c:tx>
            <c:strRef>
              <c:f>'Inflated Cost'!$O$1</c:f>
              <c:strCache>
                <c:ptCount val="1"/>
                <c:pt idx="0">
                  <c:v>COGS_growth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'Inflated Cost'!$B$9:$B$11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'Inflated Cost'!$O$9:$O$11</c:f>
              <c:numCache>
                <c:formatCode>0.00%</c:formatCode>
                <c:ptCount val="3"/>
                <c:pt idx="0">
                  <c:v>-0.11991213103173071</c:v>
                </c:pt>
                <c:pt idx="1">
                  <c:v>0.20118203127884815</c:v>
                </c:pt>
                <c:pt idx="2">
                  <c:v>-0.27499403551768753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B8-4713-967C-00C014A7EE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9007087"/>
        <c:axId val="1119007567"/>
      </c:lineChart>
      <c:catAx>
        <c:axId val="1119007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9007567"/>
        <c:crossesAt val="-0.4"/>
        <c:auto val="1"/>
        <c:lblAlgn val="ctr"/>
        <c:lblOffset val="100"/>
        <c:noMultiLvlLbl val="0"/>
      </c:catAx>
      <c:valAx>
        <c:axId val="1119007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9007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ayable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urnover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'Inflated Cost'!$AR$1</c:f>
              <c:strCache>
                <c:ptCount val="1"/>
                <c:pt idx="0">
                  <c:v>account_payable_turnover_ratio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'Inflated Cost'!$B$9:$B$11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'Inflated Cost'!$AR$9:$AR$11</c:f>
              <c:numCache>
                <c:formatCode>0.000</c:formatCode>
                <c:ptCount val="3"/>
                <c:pt idx="0">
                  <c:v>3.9628145378811213</c:v>
                </c:pt>
                <c:pt idx="1">
                  <c:v>4.4926912091041444</c:v>
                </c:pt>
                <c:pt idx="2">
                  <c:v>2.3270696828378572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27-42D6-B191-49396F8C7F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8961487"/>
        <c:axId val="1118951407"/>
      </c:lineChart>
      <c:catAx>
        <c:axId val="1118961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51407"/>
        <c:crosses val="autoZero"/>
        <c:auto val="1"/>
        <c:lblAlgn val="ctr"/>
        <c:lblOffset val="100"/>
        <c:noMultiLvlLbl val="0"/>
      </c:catAx>
      <c:valAx>
        <c:axId val="1118951407"/>
        <c:scaling>
          <c:orientation val="minMax"/>
          <c:min val="2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61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Growth Comparison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'Inflated Cost'!$Z$1</c:f>
              <c:strCache>
                <c:ptCount val="1"/>
                <c:pt idx="0">
                  <c:v>inventory_growth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'Inflated Cost'!$B$9:$B$11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'Inflated Cost'!$Z$9:$Z$11</c:f>
              <c:numCache>
                <c:formatCode>0.00%</c:formatCode>
                <c:ptCount val="3"/>
                <c:pt idx="0">
                  <c:v>0.49093367525328069</c:v>
                </c:pt>
                <c:pt idx="1">
                  <c:v>9.5911282380782836E-2</c:v>
                </c:pt>
                <c:pt idx="2">
                  <c:v>0.11819114717406731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D8-462A-9E4F-CB22C8329C44}"/>
            </c:ext>
          </c:extLst>
        </c:ser>
        <c:ser>
          <c:idx val="1"/>
          <c:order val="1"/>
          <c:tx>
            <c:strRef>
              <c:f>'Inflated Cost'!$L$1</c:f>
              <c:strCache>
                <c:ptCount val="1"/>
                <c:pt idx="0">
                  <c:v>sales_growth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'Inflated Cost'!$B$9:$B$11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'Inflated Cost'!$L$9:$L$11</c:f>
              <c:numCache>
                <c:formatCode>0.00%</c:formatCode>
                <c:ptCount val="3"/>
                <c:pt idx="0">
                  <c:v>3.4844791064756464E-2</c:v>
                </c:pt>
                <c:pt idx="1">
                  <c:v>1.3883130505361274E-2</c:v>
                </c:pt>
                <c:pt idx="2">
                  <c:v>-0.33495495403735898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D8-462A-9E4F-CB22C8329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8970607"/>
        <c:axId val="1118971567"/>
      </c:lineChart>
      <c:catAx>
        <c:axId val="1118970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71567"/>
        <c:crossesAt val="-0.4"/>
        <c:auto val="1"/>
        <c:lblAlgn val="ctr"/>
        <c:lblOffset val="100"/>
        <c:noMultiLvlLbl val="0"/>
      </c:catAx>
      <c:valAx>
        <c:axId val="1118971567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70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urnover</a:t>
            </a:r>
            <a:r>
              <a:rPr lang="en-US" altLang="zh-C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'Inflated Cost'!$Y$1</c:f>
              <c:strCache>
                <c:ptCount val="1"/>
                <c:pt idx="0">
                  <c:v>inventory_turnover_ratio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'Inflated Cost'!$B$9:$B$11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'Inflated Cost'!$Y$9:$Y$11</c:f>
              <c:numCache>
                <c:formatCode>0.000</c:formatCode>
                <c:ptCount val="3"/>
                <c:pt idx="0">
                  <c:v>2.5606642519666756</c:v>
                </c:pt>
                <c:pt idx="1">
                  <c:v>2.4518416023586549</c:v>
                </c:pt>
                <c:pt idx="2">
                  <c:v>1.6049678532649416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B0-4E7F-809F-BE8457C11B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8985487"/>
        <c:axId val="1118983087"/>
      </c:lineChart>
      <c:catAx>
        <c:axId val="1118985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83087"/>
        <c:crosses val="autoZero"/>
        <c:auto val="1"/>
        <c:lblAlgn val="ctr"/>
        <c:lblOffset val="100"/>
        <c:noMultiLvlLbl val="0"/>
      </c:catAx>
      <c:valAx>
        <c:axId val="1118983087"/>
        <c:scaling>
          <c:orientation val="minMax"/>
          <c:min val="1.5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1118985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80808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3AF1F-C6EF-4142-A005-D65BB4671BE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FFCDC-43B7-4DAC-A205-7A515FA7A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49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32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363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64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130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219EB-44C2-6738-FAF6-F6F81F90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E07434-9C5C-B79C-295A-CB9EDCEF6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BCB99C-4F0B-DCA9-EE20-E2CCC668D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F70997-3D0A-052B-C435-E0D65F5A3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748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CDCB-57A7-BDA4-BACC-E5A2A646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FC4C0D-18F6-546E-3338-791AEE3FC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EE2520-60EE-6CCA-4A61-C7CEC3810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7421A6-41A0-0F5A-1174-E4828ECED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774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1CC9-2B6D-C902-1273-3C49E2D7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94520D-CCF3-CCF3-0B9C-760BA44BF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710F17-AC3D-B1B3-202A-2B41044C5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72B33-6BC0-476A-72DC-D0BF89EB2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2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3F29-907C-8740-B807-995A2966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25B3D9-82CF-F432-171D-849925433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EC08B4-C737-E5B0-145F-849AA4D0C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AA598-2A8C-849B-4799-D9353BA38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853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1A9B-59F3-3BF8-FB94-151A4251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40AC70-3ED5-B20C-C355-3078108FE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C1A9B9-BE04-7623-A616-86C1454CD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9FECC9-010C-AD26-3468-13B453BE8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735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B2E3-FD12-9A00-901F-3BCEA3BF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7F8ABB-FA8D-381C-40FF-FE4FE7107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27809F-B8EF-FAFF-9521-4C73D7217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42455A-8C83-722E-415E-23CC43551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910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DD46A-5D98-11A4-86E5-D03212A0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74A419-274C-6532-FAE2-6D650F63D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613F00-011D-64DD-DCF6-434012ECF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05E2E-2807-B37E-6203-A15106CC5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301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B7C1-1E85-EF9C-4F2A-1057CF02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4C92D8-967B-5957-BA2D-F6FA0715E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D48262-4AE7-E842-8F2F-AF61FD16A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89B38F-E23F-DCC1-D072-023E9C132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969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92371-4E72-C1B4-84F4-C5B3CDE0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26E6CF-A9E1-A713-9851-DDF7C1369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8BDCF3-83D6-EDA3-163D-CCB8AEBA1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BB121-0956-ECCB-A112-C60AF4D0A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96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476AF-E0FF-B5E8-A449-1B9BE307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F19719-2544-3614-446C-EFAFC3954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6C81A3-5B5E-5CF9-589D-0EFC9288C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5533F9-8183-A739-70E8-A23294AF6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851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96D8-EC83-DC80-57E3-0E1AC2C2C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DCC9C9-58F5-6F16-B47C-49088D8AD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73109D-FA6D-5FE2-8A27-1F1408A15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E72A86-D2D3-A4E6-698C-8A252D8F5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991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459E0-347E-BC89-D225-37DABFA4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778FA8-8BC6-BB0D-A385-37932355B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36CF9-4576-4FBE-EAB0-80CE95B2B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98D3C-2F0E-124F-76F7-742A51CC5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236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EAD8-73F2-E077-3A73-E0BCE149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0791B1-E7ED-55D3-A524-468FA25F8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137E7B-6B05-14B8-5B23-1E9F14B00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8496C9-772B-FA7A-E8C9-721449C4E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816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2B97-8500-6308-DF63-1CC7C7F4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3B97CF-1186-834B-7CBD-184A3BB5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E3980-7DF7-BC86-36F4-8970F5E65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4EFAD-1ED2-AB59-945E-C9F109FC0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904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CD82C-9C1A-5CF5-21E9-56E7443B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E67404-27D4-D1AD-86EA-FE7AD125B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9AE471-1D46-B797-550B-312A53382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F01AC-7037-A34A-5FDB-F2034E3D7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928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AEB5-B6B9-F65B-B0A9-AAA9B6D6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BC46A2-B0E1-96AE-8009-40B0CA3D2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E6CB7D-E38D-DAFD-964C-177A0F642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B1D49E-2D16-64C8-05A9-E0F5EC66A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0875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41A8-D36E-3784-455C-B43B5BF4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DA6CE2-C374-29E2-E25E-DC428FF3F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92D728-16ED-5DA8-6479-5FB1B32E6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C502C-835C-FAC8-64C9-E5584F16A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709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DD693-0A97-F9AA-3FD7-66A39F77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3C0CE7-3F58-E0C4-F1FC-F482A3F67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21F99B-1C36-C8CD-300D-6A1DE6BC8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8D1A65-7E89-75E2-7600-F249C314C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601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70C0-1FB3-9341-F17D-779A8368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3264D2-2386-8BD6-6075-90998383E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230F24-2115-56D6-2819-F7770C2E0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DF945-194F-CBC9-9E72-81B6AAD91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3161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4889-6C89-FC09-83CE-16739773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69E629-CE27-04B9-4916-DA54BBD47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018CFA-A31B-2B9D-C43C-BB6AE4FB1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0A4327-6438-CCB6-F96D-4AF83C1CA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1583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D7C2-0A3D-E0DC-8AD1-F2CD3B3E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F7F426-562D-B6C0-8BFB-7DCC87779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48E9E-DB84-06F7-82E2-475A1EF8C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6B461-6313-A6F4-152D-FCC83431F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32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32DC-94C7-3047-D0B0-D65C4BA3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C00EA-C09F-1E71-2A11-2983024D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32BE79-1AE4-6C35-467D-D1B830D7B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CD40B2-3992-950D-1F8E-2BFD541BA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231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C305-4094-66CA-6858-6707BA28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A17121-10DE-E998-048D-1FF90708C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7E725B-BFAE-D459-DBB4-8AB5975A9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478267-DEFB-526A-2B67-D8CE0F811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006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D59F-5287-3E0C-CFD7-2EED5237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D9715C-6592-7F9C-3E5F-1C96A5BA8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5C466A-CC19-8516-F0F9-817233218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DDDA6A-7DE2-8BC7-88C8-55580F9AD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7414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1C7A-49FF-CDF6-E90E-9F4E52B8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69B6FD-FD8B-25BE-A34C-597F0993E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38B5E8-FFED-98E5-8AB2-EE848C6E3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FA5F9-A20B-1526-7D55-33133EFB0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294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26C2-7407-5FCB-F392-AD1FEB5A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AC6346-70CC-39D3-2463-A6B80CC2E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06D48F-2F5E-EAF4-5A54-46689A5B1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7B0006-CC20-D0B7-5FAA-62D39142D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9547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5FF0A-471D-867F-DC04-7919A28E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6FB302-89FE-A399-A354-18D7E0416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6C4C4-9462-3EA3-DBA1-72B420AEF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621096-0385-4619-A6BF-B1343E572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3254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D6E0-352E-DAFD-F406-A4D63554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442FD5-2E6A-F63D-7DD7-EBEB14D22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CDBF3A-5073-0F98-F8ED-6EFD3821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A699E-0A70-3D3E-12F4-A0DF53D3F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91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B5601-F06C-A94C-365D-0E713BC0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ABB63-4C1D-AA6C-C757-C0B650E84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843CB3-01CE-D44E-4BA3-277F22373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2B7A32-12E0-7E25-718D-F63BFBFAF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FCDC-43B7-4DAC-A205-7A515FA7A38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281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0643F-3DEA-48F5-B2C1-6B5EF1F84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FBE38A-935B-4795-9BD3-706EF48E5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8D177C-1113-427A-BF36-6EC6C9AE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C8A7-49EB-4C27-840B-480C6DF8DCCC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B4BD4-D57B-4F8E-8599-4CA219E4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EE2F2-8E87-49D3-AAD6-DABE5C417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5A12-7C91-4207-9399-6F0C7BDA3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21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B7B54-5152-46FA-A4B0-15BD6D86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694FE8-D479-428D-B0D9-C36C8A2DE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CDE85-836B-4F71-A711-ED68AEDF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C8A7-49EB-4C27-840B-480C6DF8DCCC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A736AD-DD21-4314-964D-684400BC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F3347-432C-4C34-9739-21A38FEB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5A12-7C91-4207-9399-6F0C7BDA3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75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584A96-AB18-448E-ABB7-336FB618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7462FD-7055-45FB-BE60-059AE62FD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FD974E-FD24-4B08-9B97-699726D81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BC8A7-49EB-4C27-840B-480C6DF8DCCC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7A22A5-D520-4EF0-83D3-0E9D07414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E64EC-7958-4D5E-BBAF-ECAA3B034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15A12-7C91-4207-9399-6F0C7BDA3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35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info.com.cn/new/disclosure/detail?plate=szse&amp;orgId=9900016190&amp;stockCode=300159&amp;announcementId=1207674950&amp;announcementTime=2020-04-29" TargetMode="External"/><Relationship Id="rId3" Type="http://schemas.openxmlformats.org/officeDocument/2006/relationships/hyperlink" Target="https://www.cninfo.com.cn/new/disclosure/stock?orgId=9900016190&amp;stockCode=300159#companyProfile" TargetMode="External"/><Relationship Id="rId7" Type="http://schemas.openxmlformats.org/officeDocument/2006/relationships/hyperlink" Target="https://www.cninfo.com.cn/new/disclosure/detail?plate=szse&amp;orgId=9900016190&amp;stockCode=300159&amp;announcementId=1206021572&amp;announcementTime=2019-04-16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ninfo.com.cn/new/disclosure/detail?plate=szse&amp;orgId=9900016190&amp;stockCode=300159&amp;announcementId=1204697067&amp;announcementTime=2018-04-24" TargetMode="External"/><Relationship Id="rId11" Type="http://schemas.openxmlformats.org/officeDocument/2006/relationships/hyperlink" Target="https://www.cninfo.com.cn/new/disclosure/detail?plate=szse&amp;orgId=9900016190&amp;stockCode=300159&amp;announcementId=1216593647&amp;announcementTime=2023-04-26" TargetMode="External"/><Relationship Id="rId5" Type="http://schemas.openxmlformats.org/officeDocument/2006/relationships/hyperlink" Target="https://www.cninfo.com.cn/new/disclosure/detail?plate=szse&amp;orgId=9900016190&amp;stockCode=300159&amp;announcementId=1203209065&amp;announcementTime=2017-03-28" TargetMode="External"/><Relationship Id="rId10" Type="http://schemas.openxmlformats.org/officeDocument/2006/relationships/hyperlink" Target="https://www.cninfo.com.cn/new/disclosure/detail?plate=szse&amp;orgId=9900016190&amp;stockCode=300159&amp;announcementId=1213165841&amp;announcementTime=2022-04-28" TargetMode="External"/><Relationship Id="rId4" Type="http://schemas.openxmlformats.org/officeDocument/2006/relationships/hyperlink" Target="https://www.cninfo.com.cn/new/disclosure/detail?plate=szse&amp;orgId=9900016190&amp;stockCode=300159&amp;announcementId=1215651210&amp;announcementTime=2023-01-19" TargetMode="External"/><Relationship Id="rId9" Type="http://schemas.openxmlformats.org/officeDocument/2006/relationships/hyperlink" Target="https://www.cninfo.com.cn/new/disclosure/detail?plate=szse&amp;orgId=9900016190&amp;stockCode=300159&amp;announcementId=1209871694&amp;announcementTime=2021-04-30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箭头: V 形 35">
            <a:extLst>
              <a:ext uri="{FF2B5EF4-FFF2-40B4-BE49-F238E27FC236}">
                <a16:creationId xmlns:a16="http://schemas.microsoft.com/office/drawing/2014/main" id="{ACF38082-3ADB-A41D-A092-4275655E299E}"/>
              </a:ext>
            </a:extLst>
          </p:cNvPr>
          <p:cNvSpPr/>
          <p:nvPr/>
        </p:nvSpPr>
        <p:spPr>
          <a:xfrm flipH="1">
            <a:off x="3890789" y="0"/>
            <a:ext cx="8007089" cy="5995552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94" t="-18450" r="94" b="-1638"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9D3EADCB-B4EF-4E2B-B5BF-10DCC3C0FF96}"/>
              </a:ext>
            </a:extLst>
          </p:cNvPr>
          <p:cNvSpPr/>
          <p:nvPr/>
        </p:nvSpPr>
        <p:spPr>
          <a:xfrm flipH="1">
            <a:off x="8460610" y="2669041"/>
            <a:ext cx="3412776" cy="3366143"/>
          </a:xfrm>
          <a:prstGeom prst="diamond">
            <a:avLst/>
          </a:prstGeom>
          <a:blipFill dpi="0" rotWithShape="0">
            <a:blip r:embed="rId5"/>
            <a:srcRect/>
            <a:stretch>
              <a:fillRect l="-694" t="-2537" r="-694" b="1149"/>
            </a:stretch>
          </a:blipFill>
          <a:ln w="381000" cmpd="thickThin">
            <a:solidFill>
              <a:srgbClr val="3658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83D9F091-A471-4DDA-B4D3-FDBB139822CE}"/>
              </a:ext>
            </a:extLst>
          </p:cNvPr>
          <p:cNvCxnSpPr>
            <a:cxnSpLocks/>
          </p:cNvCxnSpPr>
          <p:nvPr/>
        </p:nvCxnSpPr>
        <p:spPr>
          <a:xfrm>
            <a:off x="11229046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D8C19402-CA77-41B6-894A-ABF3250EB9A2}"/>
              </a:ext>
            </a:extLst>
          </p:cNvPr>
          <p:cNvCxnSpPr>
            <a:cxnSpLocks/>
          </p:cNvCxnSpPr>
          <p:nvPr/>
        </p:nvCxnSpPr>
        <p:spPr>
          <a:xfrm>
            <a:off x="10829159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菱形 10">
            <a:extLst>
              <a:ext uri="{FF2B5EF4-FFF2-40B4-BE49-F238E27FC236}">
                <a16:creationId xmlns:a16="http://schemas.microsoft.com/office/drawing/2014/main" id="{F9E42EE5-3E02-4BE7-905C-B0805930B653}"/>
              </a:ext>
            </a:extLst>
          </p:cNvPr>
          <p:cNvSpPr/>
          <p:nvPr/>
        </p:nvSpPr>
        <p:spPr>
          <a:xfrm flipH="1">
            <a:off x="7859593" y="3769515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94BF30B-4C59-49C6-A4A4-540C72CB6C2D}"/>
              </a:ext>
            </a:extLst>
          </p:cNvPr>
          <p:cNvGrpSpPr/>
          <p:nvPr/>
        </p:nvGrpSpPr>
        <p:grpSpPr>
          <a:xfrm>
            <a:off x="436601" y="2699231"/>
            <a:ext cx="7191441" cy="2709996"/>
            <a:chOff x="25604" y="2030003"/>
            <a:chExt cx="7191441" cy="2566377"/>
          </a:xfrm>
        </p:grpSpPr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869E26D0-9DE4-4B88-9AEE-61045943CFB0}"/>
                </a:ext>
              </a:extLst>
            </p:cNvPr>
            <p:cNvSpPr txBox="1"/>
            <p:nvPr/>
          </p:nvSpPr>
          <p:spPr>
            <a:xfrm>
              <a:off x="147466" y="3383105"/>
              <a:ext cx="5675568" cy="2623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dirty="0">
                  <a:solidFill>
                    <a:srgbClr val="5C5C5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Simple, Complex, and Cost-Inflating Fraud Patterns</a:t>
              </a:r>
              <a:endParaRPr lang="zh-CN" altLang="en-US" dirty="0">
                <a:solidFill>
                  <a:srgbClr val="5C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1EBCB09-FFF4-401D-895E-BC6CCCFE52C0}"/>
                </a:ext>
              </a:extLst>
            </p:cNvPr>
            <p:cNvSpPr txBox="1"/>
            <p:nvPr/>
          </p:nvSpPr>
          <p:spPr>
            <a:xfrm>
              <a:off x="25604" y="2030003"/>
              <a:ext cx="6171883" cy="61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Heavy" panose="020B0A00000000000000" pitchFamily="34" charset="-122"/>
                  <a:cs typeface="Times New Roman" panose="02020603050405020304" pitchFamily="18" charset="0"/>
                </a:rPr>
                <a:t>Accounting Fraud Analysis</a:t>
              </a: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CBC69933-AF6B-487D-A6EB-7E23464869FE}"/>
                </a:ext>
              </a:extLst>
            </p:cNvPr>
            <p:cNvSpPr/>
            <p:nvPr/>
          </p:nvSpPr>
          <p:spPr>
            <a:xfrm>
              <a:off x="4595611" y="2931734"/>
              <a:ext cx="5121" cy="12833"/>
            </a:xfrm>
            <a:custGeom>
              <a:avLst/>
              <a:gdLst>
                <a:gd name="connsiteX0" fmla="*/ 5121 w 5121"/>
                <a:gd name="connsiteY0" fmla="*/ 0 h 12833"/>
                <a:gd name="connsiteX1" fmla="*/ 0 w 5121"/>
                <a:gd name="connsiteY1" fmla="*/ 12833 h 12833"/>
                <a:gd name="connsiteX2" fmla="*/ 1509 w 5121"/>
                <a:gd name="connsiteY2" fmla="*/ 5357 h 12833"/>
                <a:gd name="connsiteX3" fmla="*/ 5121 w 5121"/>
                <a:gd name="connsiteY3" fmla="*/ 0 h 1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1" h="12833">
                  <a:moveTo>
                    <a:pt x="5121" y="0"/>
                  </a:moveTo>
                  <a:lnTo>
                    <a:pt x="0" y="12833"/>
                  </a:lnTo>
                  <a:lnTo>
                    <a:pt x="1509" y="5357"/>
                  </a:lnTo>
                  <a:lnTo>
                    <a:pt x="5121" y="0"/>
                  </a:ln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Medium"/>
                <a:cs typeface="Times New Roman" panose="02020603050405020304" pitchFamily="18" charset="0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F6EA44DB-3E14-49CD-970C-2605248D6245}"/>
                </a:ext>
              </a:extLst>
            </p:cNvPr>
            <p:cNvSpPr/>
            <p:nvPr/>
          </p:nvSpPr>
          <p:spPr>
            <a:xfrm>
              <a:off x="7215946" y="2936774"/>
              <a:ext cx="1099" cy="2752"/>
            </a:xfrm>
            <a:custGeom>
              <a:avLst/>
              <a:gdLst>
                <a:gd name="connsiteX0" fmla="*/ 1099 w 1099"/>
                <a:gd name="connsiteY0" fmla="*/ 0 h 2752"/>
                <a:gd name="connsiteX1" fmla="*/ 775 w 1099"/>
                <a:gd name="connsiteY1" fmla="*/ 1603 h 2752"/>
                <a:gd name="connsiteX2" fmla="*/ 0 w 1099"/>
                <a:gd name="connsiteY2" fmla="*/ 2752 h 2752"/>
                <a:gd name="connsiteX3" fmla="*/ 1099 w 1099"/>
                <a:gd name="connsiteY3" fmla="*/ 0 h 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" h="2752">
                  <a:moveTo>
                    <a:pt x="1099" y="0"/>
                  </a:moveTo>
                  <a:lnTo>
                    <a:pt x="775" y="1603"/>
                  </a:lnTo>
                  <a:lnTo>
                    <a:pt x="0" y="2752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Medium"/>
                <a:cs typeface="Times New Roman" panose="02020603050405020304" pitchFamily="18" charset="0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612F4D3-95AA-4CE8-BA92-E71EEF22E351}"/>
                </a:ext>
              </a:extLst>
            </p:cNvPr>
            <p:cNvGrpSpPr/>
            <p:nvPr/>
          </p:nvGrpSpPr>
          <p:grpSpPr>
            <a:xfrm>
              <a:off x="538165" y="4162582"/>
              <a:ext cx="3178819" cy="433798"/>
              <a:chOff x="974344" y="4568250"/>
              <a:chExt cx="3178819" cy="433798"/>
            </a:xfrm>
          </p:grpSpPr>
          <p:sp>
            <p:nvSpPr>
              <p:cNvPr id="28" name="文本框 18">
                <a:extLst>
                  <a:ext uri="{FF2B5EF4-FFF2-40B4-BE49-F238E27FC236}">
                    <a16:creationId xmlns:a16="http://schemas.microsoft.com/office/drawing/2014/main" id="{EE477013-E3CE-4230-AC32-5254C1DD6410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74344" y="4659551"/>
                <a:ext cx="3035121" cy="342497"/>
              </a:xfrm>
              <a:prstGeom prst="parallelogram">
                <a:avLst>
                  <a:gd name="adj" fmla="val 87780"/>
                </a:avLst>
              </a:prstGeom>
              <a:solidFill>
                <a:srgbClr val="365886"/>
              </a:solidFill>
              <a:ln w="19050">
                <a:solidFill>
                  <a:srgbClr val="B0ACAC"/>
                </a:solidFill>
              </a:ln>
              <a:effectLst>
                <a:outerShdw blurRad="50800" dist="381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marL="0" marR="0" lvl="0" indent="0" algn="dist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EBC25E3-5A43-4490-88A0-8B53440F5C60}"/>
                  </a:ext>
                </a:extLst>
              </p:cNvPr>
              <p:cNvSpPr txBox="1"/>
              <p:nvPr/>
            </p:nvSpPr>
            <p:spPr>
              <a:xfrm flipH="1">
                <a:off x="1361804" y="4568250"/>
                <a:ext cx="2791359" cy="433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Jingwei Liu  2253336</a:t>
                </a:r>
                <a:endPara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菱形 36">
            <a:extLst>
              <a:ext uri="{FF2B5EF4-FFF2-40B4-BE49-F238E27FC236}">
                <a16:creationId xmlns:a16="http://schemas.microsoft.com/office/drawing/2014/main" id="{2277920F-6E13-4251-8DB0-A63C81F08201}"/>
              </a:ext>
            </a:extLst>
          </p:cNvPr>
          <p:cNvSpPr/>
          <p:nvPr/>
        </p:nvSpPr>
        <p:spPr>
          <a:xfrm flipH="1">
            <a:off x="4230791" y="-540035"/>
            <a:ext cx="2406528" cy="2406528"/>
          </a:xfrm>
          <a:prstGeom prst="diamond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CF477C2-2390-453B-AD6B-A0F4411091A6}"/>
              </a:ext>
            </a:extLst>
          </p:cNvPr>
          <p:cNvGrpSpPr/>
          <p:nvPr/>
        </p:nvGrpSpPr>
        <p:grpSpPr>
          <a:xfrm>
            <a:off x="6637319" y="4054229"/>
            <a:ext cx="3720993" cy="1781966"/>
            <a:chOff x="6637897" y="4069784"/>
            <a:chExt cx="3720993" cy="1781966"/>
          </a:xfrm>
        </p:grpSpPr>
        <p:sp>
          <p:nvSpPr>
            <p:cNvPr id="13" name="菱形 12">
              <a:extLst>
                <a:ext uri="{FF2B5EF4-FFF2-40B4-BE49-F238E27FC236}">
                  <a16:creationId xmlns:a16="http://schemas.microsoft.com/office/drawing/2014/main" id="{54F5A64F-22DE-4066-90E9-FAEE9BC168EE}"/>
                </a:ext>
              </a:extLst>
            </p:cNvPr>
            <p:cNvSpPr/>
            <p:nvPr/>
          </p:nvSpPr>
          <p:spPr>
            <a:xfrm flipH="1">
              <a:off x="6637897" y="4069784"/>
              <a:ext cx="838155" cy="838155"/>
            </a:xfrm>
            <a:prstGeom prst="diamond">
              <a:avLst/>
            </a:prstGeom>
            <a:solidFill>
              <a:srgbClr val="B0ACAC"/>
            </a:solidFill>
            <a:ln w="6350">
              <a:solidFill>
                <a:srgbClr val="3658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6939BB7-4CA9-4CD9-AC31-14BFC2FE3A65}"/>
                </a:ext>
              </a:extLst>
            </p:cNvPr>
            <p:cNvSpPr/>
            <p:nvPr/>
          </p:nvSpPr>
          <p:spPr>
            <a:xfrm rot="2683774">
              <a:off x="7036686" y="5746567"/>
              <a:ext cx="3322204" cy="105183"/>
            </a:xfrm>
            <a:prstGeom prst="rect">
              <a:avLst/>
            </a:prstGeom>
            <a:solidFill>
              <a:srgbClr val="365886"/>
            </a:solidFill>
            <a:ln>
              <a:solidFill>
                <a:srgbClr val="3658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A4A0DEC-2C46-95DE-91D9-EE29C22029CA}"/>
              </a:ext>
            </a:extLst>
          </p:cNvPr>
          <p:cNvSpPr txBox="1"/>
          <p:nvPr/>
        </p:nvSpPr>
        <p:spPr>
          <a:xfrm>
            <a:off x="436601" y="3415396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of 300159.SZ Xinyan Holding</a:t>
            </a:r>
            <a:endParaRPr kumimoji="0" lang="zh-CN" altLang="en-US" sz="3600" b="1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思源黑体 CN Heavy" panose="020B0A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70E7982-281B-956D-BA89-64EF48B28B32}"/>
              </a:ext>
            </a:extLst>
          </p:cNvPr>
          <p:cNvCxnSpPr>
            <a:cxnSpLocks/>
          </p:cNvCxnSpPr>
          <p:nvPr/>
        </p:nvCxnSpPr>
        <p:spPr>
          <a:xfrm>
            <a:off x="396553" y="3949689"/>
            <a:ext cx="54075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61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9940E5D-5186-9E08-9DEC-284B25D63B26}"/>
              </a:ext>
            </a:extLst>
          </p:cNvPr>
          <p:cNvSpPr/>
          <p:nvPr/>
        </p:nvSpPr>
        <p:spPr>
          <a:xfrm>
            <a:off x="472439" y="410544"/>
            <a:ext cx="11247120" cy="5983605"/>
          </a:xfrm>
          <a:prstGeom prst="rect">
            <a:avLst/>
          </a:prstGeom>
          <a:solidFill>
            <a:schemeClr val="bg1"/>
          </a:solidFill>
          <a:ln w="19050">
            <a:solidFill>
              <a:srgbClr val="E2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任意多边形 3">
            <a:extLst>
              <a:ext uri="{FF2B5EF4-FFF2-40B4-BE49-F238E27FC236}">
                <a16:creationId xmlns:a16="http://schemas.microsoft.com/office/drawing/2014/main" id="{BE0D6316-2423-E0F9-149A-6F0BE3F9AF46}"/>
              </a:ext>
            </a:extLst>
          </p:cNvPr>
          <p:cNvSpPr/>
          <p:nvPr/>
        </p:nvSpPr>
        <p:spPr>
          <a:xfrm flipV="1">
            <a:off x="0" y="4662805"/>
            <a:ext cx="1041400" cy="2194560"/>
          </a:xfrm>
          <a:custGeom>
            <a:avLst/>
            <a:gdLst>
              <a:gd name="adj" fmla="val 71298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640" h="3456">
                <a:moveTo>
                  <a:pt x="981" y="0"/>
                </a:moveTo>
                <a:lnTo>
                  <a:pt x="1640" y="0"/>
                </a:lnTo>
                <a:lnTo>
                  <a:pt x="4" y="3456"/>
                </a:lnTo>
                <a:lnTo>
                  <a:pt x="0" y="3456"/>
                </a:lnTo>
                <a:lnTo>
                  <a:pt x="0" y="2073"/>
                </a:lnTo>
                <a:lnTo>
                  <a:pt x="981" y="0"/>
                </a:lnTo>
                <a:close/>
              </a:path>
            </a:pathLst>
          </a:custGeom>
          <a:solidFill>
            <a:srgbClr val="325F8D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4">
            <a:extLst>
              <a:ext uri="{FF2B5EF4-FFF2-40B4-BE49-F238E27FC236}">
                <a16:creationId xmlns:a16="http://schemas.microsoft.com/office/drawing/2014/main" id="{08E717F1-5AD2-5F91-EBFC-2350D27CC951}"/>
              </a:ext>
            </a:extLst>
          </p:cNvPr>
          <p:cNvSpPr/>
          <p:nvPr/>
        </p:nvSpPr>
        <p:spPr>
          <a:xfrm flipH="1">
            <a:off x="11150600" y="0"/>
            <a:ext cx="1041400" cy="2194560"/>
          </a:xfrm>
          <a:custGeom>
            <a:avLst/>
            <a:gdLst>
              <a:gd name="adj" fmla="val 71298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640" h="3456">
                <a:moveTo>
                  <a:pt x="981" y="0"/>
                </a:moveTo>
                <a:lnTo>
                  <a:pt x="1640" y="0"/>
                </a:lnTo>
                <a:lnTo>
                  <a:pt x="4" y="3456"/>
                </a:lnTo>
                <a:lnTo>
                  <a:pt x="0" y="3456"/>
                </a:lnTo>
                <a:lnTo>
                  <a:pt x="0" y="2073"/>
                </a:lnTo>
                <a:lnTo>
                  <a:pt x="981" y="0"/>
                </a:lnTo>
                <a:close/>
              </a:path>
            </a:pathLst>
          </a:custGeom>
          <a:solidFill>
            <a:srgbClr val="325F8D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任意多边形 5">
            <a:extLst>
              <a:ext uri="{FF2B5EF4-FFF2-40B4-BE49-F238E27FC236}">
                <a16:creationId xmlns:a16="http://schemas.microsoft.com/office/drawing/2014/main" id="{48CBCAB1-D829-DC88-E7F6-B586E28E4442}"/>
              </a:ext>
            </a:extLst>
          </p:cNvPr>
          <p:cNvSpPr/>
          <p:nvPr/>
        </p:nvSpPr>
        <p:spPr>
          <a:xfrm rot="21300000" flipV="1">
            <a:off x="91565" y="3612467"/>
            <a:ext cx="1289531" cy="3308022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2031" h="5209">
                <a:moveTo>
                  <a:pt x="2031" y="0"/>
                </a:moveTo>
                <a:lnTo>
                  <a:pt x="79" y="5209"/>
                </a:lnTo>
                <a:lnTo>
                  <a:pt x="0" y="4304"/>
                </a:lnTo>
                <a:lnTo>
                  <a:pt x="1598" y="38"/>
                </a:lnTo>
                <a:lnTo>
                  <a:pt x="2031" y="0"/>
                </a:lnTo>
                <a:close/>
              </a:path>
            </a:pathLst>
          </a:custGeom>
          <a:solidFill>
            <a:srgbClr val="B9D2E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8">
            <a:extLst>
              <a:ext uri="{FF2B5EF4-FFF2-40B4-BE49-F238E27FC236}">
                <a16:creationId xmlns:a16="http://schemas.microsoft.com/office/drawing/2014/main" id="{D7DC9C27-381E-1F66-5790-6B69B5683D00}"/>
              </a:ext>
            </a:extLst>
          </p:cNvPr>
          <p:cNvSpPr/>
          <p:nvPr/>
        </p:nvSpPr>
        <p:spPr>
          <a:xfrm rot="21300000" flipH="1">
            <a:off x="10817985" y="-69898"/>
            <a:ext cx="1289531" cy="3308022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2031" h="5209">
                <a:moveTo>
                  <a:pt x="2031" y="0"/>
                </a:moveTo>
                <a:lnTo>
                  <a:pt x="79" y="5209"/>
                </a:lnTo>
                <a:lnTo>
                  <a:pt x="0" y="4304"/>
                </a:lnTo>
                <a:lnTo>
                  <a:pt x="1598" y="38"/>
                </a:lnTo>
                <a:lnTo>
                  <a:pt x="2031" y="0"/>
                </a:lnTo>
                <a:close/>
              </a:path>
            </a:pathLst>
          </a:custGeom>
          <a:solidFill>
            <a:srgbClr val="B9D2E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B726FE65-6616-6413-B121-65D6902AEAEF}"/>
              </a:ext>
            </a:extLst>
          </p:cNvPr>
          <p:cNvSpPr txBox="1"/>
          <p:nvPr/>
        </p:nvSpPr>
        <p:spPr>
          <a:xfrm>
            <a:off x="2859831" y="1718011"/>
            <a:ext cx="5970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Background and Fraud Overview</a:t>
            </a:r>
            <a:endParaRPr lang="zh-CN" altLang="en-US" sz="2000" dirty="0">
              <a:solidFill>
                <a:srgbClr val="404040"/>
              </a:solidFill>
              <a:latin typeface="Times New Roman" panose="02020603050405020304" pitchFamily="18" charset="0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13C6A460-2356-1C34-2399-94D019A0C81C}"/>
              </a:ext>
            </a:extLst>
          </p:cNvPr>
          <p:cNvSpPr txBox="1"/>
          <p:nvPr/>
        </p:nvSpPr>
        <p:spPr>
          <a:xfrm>
            <a:off x="2873884" y="2546196"/>
            <a:ext cx="2827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Simple Fraud Pattern</a:t>
            </a:r>
            <a:endParaRPr lang="zh-CN" altLang="en-US" sz="2000" dirty="0">
              <a:solidFill>
                <a:srgbClr val="404040"/>
              </a:solidFill>
              <a:latin typeface="Times New Roman" panose="02020603050405020304" pitchFamily="18" charset="0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DB88A9C6-396D-19B8-C7A7-826130AAEAD0}"/>
              </a:ext>
            </a:extLst>
          </p:cNvPr>
          <p:cNvSpPr txBox="1"/>
          <p:nvPr/>
        </p:nvSpPr>
        <p:spPr>
          <a:xfrm>
            <a:off x="2859400" y="3402347"/>
            <a:ext cx="3070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Fraud Pattern</a:t>
            </a:r>
            <a:endParaRPr lang="zh-CN" altLang="en-US" sz="2000" dirty="0">
              <a:solidFill>
                <a:srgbClr val="404040"/>
              </a:solidFill>
              <a:latin typeface="Times New Roman" panose="02020603050405020304" pitchFamily="18" charset="0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Box 33">
            <a:extLst>
              <a:ext uri="{FF2B5EF4-FFF2-40B4-BE49-F238E27FC236}">
                <a16:creationId xmlns:a16="http://schemas.microsoft.com/office/drawing/2014/main" id="{14571F29-C70E-2874-70B0-EE0EF47D2F03}"/>
              </a:ext>
            </a:extLst>
          </p:cNvPr>
          <p:cNvSpPr txBox="1"/>
          <p:nvPr/>
        </p:nvSpPr>
        <p:spPr>
          <a:xfrm>
            <a:off x="2859831" y="4256024"/>
            <a:ext cx="2855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Cost-inflating Pattern</a:t>
            </a:r>
            <a:endParaRPr lang="zh-CN" altLang="en-US" sz="2000" dirty="0">
              <a:solidFill>
                <a:srgbClr val="404040"/>
              </a:solidFill>
              <a:latin typeface="Times New Roman" panose="02020603050405020304" pitchFamily="18" charset="0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TextBox 33">
            <a:extLst>
              <a:ext uri="{FF2B5EF4-FFF2-40B4-BE49-F238E27FC236}">
                <a16:creationId xmlns:a16="http://schemas.microsoft.com/office/drawing/2014/main" id="{E8348659-126E-3B44-84E0-3BA7A7A13018}"/>
              </a:ext>
            </a:extLst>
          </p:cNvPr>
          <p:cNvSpPr txBox="1"/>
          <p:nvPr/>
        </p:nvSpPr>
        <p:spPr>
          <a:xfrm>
            <a:off x="2888604" y="5109701"/>
            <a:ext cx="52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Flow Charts, Conclusion, and References</a:t>
            </a:r>
            <a:endParaRPr lang="zh-CN" altLang="en-US" sz="2000" dirty="0">
              <a:solidFill>
                <a:srgbClr val="404040"/>
              </a:solidFill>
              <a:latin typeface="Times New Roman" panose="02020603050405020304" pitchFamily="18" charset="0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9FCC43C-EB1D-B39B-6DFF-3F498B925BDE}"/>
              </a:ext>
            </a:extLst>
          </p:cNvPr>
          <p:cNvSpPr/>
          <p:nvPr/>
        </p:nvSpPr>
        <p:spPr>
          <a:xfrm rot="2700000">
            <a:off x="2193142" y="1680037"/>
            <a:ext cx="480611" cy="487251"/>
          </a:xfrm>
          <a:prstGeom prst="roundRect">
            <a:avLst>
              <a:gd name="adj" fmla="val 0"/>
            </a:avLst>
          </a:prstGeom>
          <a:solidFill>
            <a:srgbClr val="8497B0"/>
          </a:solidFill>
          <a:ln w="19050">
            <a:solidFill>
              <a:srgbClr val="E2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8BDCCDD9-608E-0206-F036-CA02FA9E255F}"/>
              </a:ext>
            </a:extLst>
          </p:cNvPr>
          <p:cNvSpPr txBox="1"/>
          <p:nvPr/>
        </p:nvSpPr>
        <p:spPr>
          <a:xfrm>
            <a:off x="4057471" y="767608"/>
            <a:ext cx="407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Table of Contents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088A4B1-7C32-7966-4047-D17CD420AC52}"/>
              </a:ext>
            </a:extLst>
          </p:cNvPr>
          <p:cNvCxnSpPr/>
          <p:nvPr/>
        </p:nvCxnSpPr>
        <p:spPr>
          <a:xfrm>
            <a:off x="4238124" y="1280969"/>
            <a:ext cx="359282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0">
            <a:extLst>
              <a:ext uri="{FF2B5EF4-FFF2-40B4-BE49-F238E27FC236}">
                <a16:creationId xmlns:a16="http://schemas.microsoft.com/office/drawing/2014/main" id="{9A59E612-059C-7770-8AEB-C9F8F2BA4DF5}"/>
              </a:ext>
            </a:extLst>
          </p:cNvPr>
          <p:cNvSpPr txBox="1"/>
          <p:nvPr/>
        </p:nvSpPr>
        <p:spPr>
          <a:xfrm>
            <a:off x="2207863" y="1718399"/>
            <a:ext cx="45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8785152-D7BB-609C-89E0-C5943DC33734}"/>
              </a:ext>
            </a:extLst>
          </p:cNvPr>
          <p:cNvSpPr/>
          <p:nvPr/>
        </p:nvSpPr>
        <p:spPr>
          <a:xfrm rot="2700000">
            <a:off x="2193140" y="2541275"/>
            <a:ext cx="480611" cy="487251"/>
          </a:xfrm>
          <a:prstGeom prst="roundRect">
            <a:avLst>
              <a:gd name="adj" fmla="val 0"/>
            </a:avLst>
          </a:prstGeom>
          <a:solidFill>
            <a:srgbClr val="8497B0"/>
          </a:solidFill>
          <a:ln w="19050">
            <a:solidFill>
              <a:srgbClr val="E2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A318A611-2204-5D14-BFA7-3AE07B7028D9}"/>
              </a:ext>
            </a:extLst>
          </p:cNvPr>
          <p:cNvSpPr txBox="1"/>
          <p:nvPr/>
        </p:nvSpPr>
        <p:spPr>
          <a:xfrm>
            <a:off x="2199927" y="2583118"/>
            <a:ext cx="467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3B073CC-91EB-213B-2DA9-5689E77B4CD0}"/>
              </a:ext>
            </a:extLst>
          </p:cNvPr>
          <p:cNvSpPr/>
          <p:nvPr/>
        </p:nvSpPr>
        <p:spPr>
          <a:xfrm rot="2700000">
            <a:off x="2193142" y="3393224"/>
            <a:ext cx="480611" cy="487251"/>
          </a:xfrm>
          <a:prstGeom prst="roundRect">
            <a:avLst>
              <a:gd name="adj" fmla="val 0"/>
            </a:avLst>
          </a:prstGeom>
          <a:solidFill>
            <a:srgbClr val="8497B0"/>
          </a:solidFill>
          <a:ln w="19050">
            <a:solidFill>
              <a:srgbClr val="E2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8E9000B1-B0A4-B867-8573-E09ED752A156}"/>
              </a:ext>
            </a:extLst>
          </p:cNvPr>
          <p:cNvSpPr txBox="1"/>
          <p:nvPr/>
        </p:nvSpPr>
        <p:spPr>
          <a:xfrm>
            <a:off x="2199927" y="3434380"/>
            <a:ext cx="471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EE6B1F4-1A09-6565-5746-74CB9E6D5160}"/>
              </a:ext>
            </a:extLst>
          </p:cNvPr>
          <p:cNvSpPr/>
          <p:nvPr/>
        </p:nvSpPr>
        <p:spPr>
          <a:xfrm rot="2700000">
            <a:off x="2193141" y="4254461"/>
            <a:ext cx="480611" cy="487251"/>
          </a:xfrm>
          <a:prstGeom prst="roundRect">
            <a:avLst>
              <a:gd name="adj" fmla="val 0"/>
            </a:avLst>
          </a:prstGeom>
          <a:solidFill>
            <a:srgbClr val="8497B0"/>
          </a:solidFill>
          <a:ln w="19050">
            <a:solidFill>
              <a:srgbClr val="E2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118F9795-A0CD-23F5-F9E3-BA93A27EACB2}"/>
              </a:ext>
            </a:extLst>
          </p:cNvPr>
          <p:cNvSpPr txBox="1"/>
          <p:nvPr/>
        </p:nvSpPr>
        <p:spPr>
          <a:xfrm>
            <a:off x="2207863" y="4298031"/>
            <a:ext cx="463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B1312C1-748F-36F1-9769-9290ECB89334}"/>
              </a:ext>
            </a:extLst>
          </p:cNvPr>
          <p:cNvSpPr/>
          <p:nvPr/>
        </p:nvSpPr>
        <p:spPr>
          <a:xfrm rot="2700000">
            <a:off x="2193141" y="5080980"/>
            <a:ext cx="480611" cy="487251"/>
          </a:xfrm>
          <a:prstGeom prst="roundRect">
            <a:avLst>
              <a:gd name="adj" fmla="val 0"/>
            </a:avLst>
          </a:prstGeom>
          <a:solidFill>
            <a:srgbClr val="8497B0"/>
          </a:solidFill>
          <a:ln w="19050">
            <a:solidFill>
              <a:srgbClr val="E2E2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7">
            <a:extLst>
              <a:ext uri="{FF2B5EF4-FFF2-40B4-BE49-F238E27FC236}">
                <a16:creationId xmlns:a16="http://schemas.microsoft.com/office/drawing/2014/main" id="{9DA1835B-5A96-B250-ED37-41CD96AFE16A}"/>
              </a:ext>
            </a:extLst>
          </p:cNvPr>
          <p:cNvSpPr txBox="1"/>
          <p:nvPr/>
        </p:nvSpPr>
        <p:spPr>
          <a:xfrm>
            <a:off x="2207864" y="5109701"/>
            <a:ext cx="463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336317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V 形 35">
            <a:extLst>
              <a:ext uri="{FF2B5EF4-FFF2-40B4-BE49-F238E27FC236}">
                <a16:creationId xmlns:a16="http://schemas.microsoft.com/office/drawing/2014/main" id="{96FFAC87-410D-1884-22D1-FA1985E3BBC4}"/>
              </a:ext>
            </a:extLst>
          </p:cNvPr>
          <p:cNvSpPr/>
          <p:nvPr/>
        </p:nvSpPr>
        <p:spPr>
          <a:xfrm>
            <a:off x="368834" y="0"/>
            <a:ext cx="8028000" cy="5976000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83D9F091-A471-4DDA-B4D3-FDBB139822CE}"/>
              </a:ext>
            </a:extLst>
          </p:cNvPr>
          <p:cNvCxnSpPr>
            <a:cxnSpLocks/>
          </p:cNvCxnSpPr>
          <p:nvPr/>
        </p:nvCxnSpPr>
        <p:spPr>
          <a:xfrm flipH="1">
            <a:off x="4374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D8C19402-CA77-41B6-894A-ABF3250EB9A2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菱形 36">
            <a:extLst>
              <a:ext uri="{FF2B5EF4-FFF2-40B4-BE49-F238E27FC236}">
                <a16:creationId xmlns:a16="http://schemas.microsoft.com/office/drawing/2014/main" id="{2277920F-6E13-4251-8DB0-A63C81F08201}"/>
              </a:ext>
            </a:extLst>
          </p:cNvPr>
          <p:cNvSpPr/>
          <p:nvPr/>
        </p:nvSpPr>
        <p:spPr>
          <a:xfrm>
            <a:off x="5649249" y="-540035"/>
            <a:ext cx="2406528" cy="2406528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993BB5D-7997-4CD9-A593-BC5A09133BE7}"/>
              </a:ext>
            </a:extLst>
          </p:cNvPr>
          <p:cNvGrpSpPr/>
          <p:nvPr/>
        </p:nvGrpSpPr>
        <p:grpSpPr>
          <a:xfrm>
            <a:off x="5832129" y="3182646"/>
            <a:ext cx="7203460" cy="1477200"/>
            <a:chOff x="4790293" y="4285167"/>
            <a:chExt cx="7203460" cy="1477200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BBB9A2E-25B7-4D74-A856-F349249C6BBE}"/>
                </a:ext>
              </a:extLst>
            </p:cNvPr>
            <p:cNvSpPr txBox="1"/>
            <p:nvPr/>
          </p:nvSpPr>
          <p:spPr>
            <a:xfrm>
              <a:off x="4798715" y="4998696"/>
              <a:ext cx="6171488" cy="76367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华文细黑" pitchFamily="2" charset="-122"/>
                  <a:cs typeface="Times New Roman" panose="02020603050405020304" pitchFamily="18" charset="0"/>
                  <a:sym typeface="微软雅黑"/>
                </a:rPr>
                <a:t>This section sets the context for the case and focuses on the fraud period from 2017 to 2019.</a:t>
              </a: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A787D0E4-B7F5-4F6E-B5B5-2DB652F83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011" y="4285167"/>
              <a:ext cx="7091742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Background </a:t>
              </a:r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and</a:t>
              </a: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Fraud Overview</a:t>
              </a:r>
              <a:endPara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6E84DBE-DA70-4CAC-9E92-A80F9152A8C4}"/>
                </a:ext>
              </a:extLst>
            </p:cNvPr>
            <p:cNvCxnSpPr>
              <a:cxnSpLocks/>
            </p:cNvCxnSpPr>
            <p:nvPr/>
          </p:nvCxnSpPr>
          <p:spPr>
            <a:xfrm>
              <a:off x="4790293" y="4945646"/>
              <a:ext cx="602088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0CD75990-9C9C-4087-9776-F0AC8358C8EF}"/>
              </a:ext>
            </a:extLst>
          </p:cNvPr>
          <p:cNvSpPr/>
          <p:nvPr/>
        </p:nvSpPr>
        <p:spPr>
          <a:xfrm flipH="1">
            <a:off x="11292114" y="5965371"/>
            <a:ext cx="899886" cy="899886"/>
          </a:xfrm>
          <a:prstGeom prst="rt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AE4533-175D-AA89-0262-4AC95EE4643D}"/>
              </a:ext>
            </a:extLst>
          </p:cNvPr>
          <p:cNvGrpSpPr/>
          <p:nvPr/>
        </p:nvGrpSpPr>
        <p:grpSpPr>
          <a:xfrm>
            <a:off x="95052" y="2736415"/>
            <a:ext cx="3524181" cy="3440069"/>
            <a:chOff x="10681" y="2494998"/>
            <a:chExt cx="3905802" cy="3905802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9D3EADCB-B4EF-4E2B-B5BF-10DCC3C0FF96}"/>
                </a:ext>
              </a:extLst>
            </p:cNvPr>
            <p:cNvSpPr/>
            <p:nvPr/>
          </p:nvSpPr>
          <p:spPr>
            <a:xfrm>
              <a:off x="10681" y="2494998"/>
              <a:ext cx="3905802" cy="3905802"/>
            </a:xfrm>
            <a:prstGeom prst="diamond">
              <a:avLst/>
            </a:prstGeom>
            <a:solidFill>
              <a:srgbClr val="3658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01CF1E3-5416-44E2-9370-8CD82ED9594D}"/>
                </a:ext>
              </a:extLst>
            </p:cNvPr>
            <p:cNvSpPr/>
            <p:nvPr/>
          </p:nvSpPr>
          <p:spPr>
            <a:xfrm flipH="1">
              <a:off x="571238" y="4074611"/>
              <a:ext cx="2783338" cy="7465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方正悠黑_GB18030_中" panose="020000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PART 01</a:t>
              </a:r>
              <a:endPara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6D873B9-E6F4-600E-73C4-E449CCE3CA9C}"/>
                </a:ext>
              </a:extLst>
            </p:cNvPr>
            <p:cNvSpPr/>
            <p:nvPr/>
          </p:nvSpPr>
          <p:spPr>
            <a:xfrm rot="2706019">
              <a:off x="870246" y="3353853"/>
              <a:ext cx="2185324" cy="2189164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菱形 10">
            <a:extLst>
              <a:ext uri="{FF2B5EF4-FFF2-40B4-BE49-F238E27FC236}">
                <a16:creationId xmlns:a16="http://schemas.microsoft.com/office/drawing/2014/main" id="{F9E42EE5-3E02-4BE7-905C-B0805930B653}"/>
              </a:ext>
            </a:extLst>
          </p:cNvPr>
          <p:cNvSpPr/>
          <p:nvPr/>
        </p:nvSpPr>
        <p:spPr>
          <a:xfrm>
            <a:off x="3003182" y="3890173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2631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CCB80BDD-5921-4592-9C14-81ECA856F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468543"/>
            <a:ext cx="470609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GB" altLang="zh-CN" sz="3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Background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D0D01B50-CF80-4CC5-863E-A0CA699054F0}"/>
              </a:ext>
            </a:extLst>
          </p:cNvPr>
          <p:cNvSpPr txBox="1"/>
          <p:nvPr/>
        </p:nvSpPr>
        <p:spPr>
          <a:xfrm flipH="1">
            <a:off x="762532" y="2285793"/>
            <a:ext cx="47698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Xinyan Holding (300159.SZ)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897F559D-787D-AAD0-C8A3-FF4AC9CA4253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7F2EAB8-14AF-7D70-D520-D87191ACC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2892671"/>
            <a:ext cx="6401678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Originally focused on agricultural and pastoral machinery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ater expanded into aviation-related operations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Mingri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Aviation consolidated from 1 November 2015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18FC8F0-FBF5-A7C8-9BA4-06BECD6C3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826" y="626431"/>
            <a:ext cx="3577323" cy="24688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F394B73-BB66-A8AF-74C2-D04E37CD8A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826" y="3538250"/>
            <a:ext cx="3577323" cy="24652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C593AEB-925F-E7A0-F737-33787ED3C473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1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8EBB-CCDE-073E-63AB-91410589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055B67EA-FA1B-01F1-B502-49A3D05D9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468543"/>
            <a:ext cx="470609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Overview</a:t>
            </a:r>
            <a:endParaRPr lang="en-GB" altLang="zh-CN" sz="32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686C1D6B-E981-9FE3-5A28-F5B913D28211}"/>
              </a:ext>
            </a:extLst>
          </p:cNvPr>
          <p:cNvSpPr txBox="1"/>
          <p:nvPr/>
        </p:nvSpPr>
        <p:spPr>
          <a:xfrm flipH="1">
            <a:off x="1261004" y="2114049"/>
            <a:ext cx="16793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2017-2018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1057D02-F8AE-ED5F-D1C1-EF9D55895701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DFA48F9C-0E65-D61C-E480-49D7859A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004" y="2682124"/>
            <a:ext cx="4017577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Fictitious sales contracts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Overstated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Inflated accounts receivable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3647D5-4C2D-966D-D3C3-AA1099F91B69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0FA19B73-63DB-2918-3C6A-2942C21CFFE7}"/>
              </a:ext>
            </a:extLst>
          </p:cNvPr>
          <p:cNvSpPr txBox="1"/>
          <p:nvPr/>
        </p:nvSpPr>
        <p:spPr>
          <a:xfrm flipH="1">
            <a:off x="5701265" y="2114049"/>
            <a:ext cx="16793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2019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843F11-D9C3-ED63-E7E9-884D22F88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1265" y="2682124"/>
            <a:ext cx="4859642" cy="96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Premature revenue and cost recognition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Inflated accounts receivable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C38C76-BDE6-692F-7ECF-A48518469A58}"/>
              </a:ext>
            </a:extLst>
          </p:cNvPr>
          <p:cNvSpPr txBox="1"/>
          <p:nvPr/>
        </p:nvSpPr>
        <p:spPr>
          <a:xfrm>
            <a:off x="1042795" y="4764804"/>
            <a:ext cx="7675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effect: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overstated revenue and accounts receivable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853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0EC8-2454-7560-40B0-AE2007F1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V 形 35">
            <a:extLst>
              <a:ext uri="{FF2B5EF4-FFF2-40B4-BE49-F238E27FC236}">
                <a16:creationId xmlns:a16="http://schemas.microsoft.com/office/drawing/2014/main" id="{6CAFCB6B-449F-0701-EC91-0305617672BB}"/>
              </a:ext>
            </a:extLst>
          </p:cNvPr>
          <p:cNvSpPr/>
          <p:nvPr/>
        </p:nvSpPr>
        <p:spPr>
          <a:xfrm>
            <a:off x="368834" y="0"/>
            <a:ext cx="8028000" cy="5976000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F3FEFEEB-638F-E6FC-4785-C38B7CCDFC63}"/>
              </a:ext>
            </a:extLst>
          </p:cNvPr>
          <p:cNvCxnSpPr>
            <a:cxnSpLocks/>
          </p:cNvCxnSpPr>
          <p:nvPr/>
        </p:nvCxnSpPr>
        <p:spPr>
          <a:xfrm flipH="1">
            <a:off x="4374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C2501A92-23A8-B84A-6B7E-F9C5EEAB2AB3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B34A531-9D23-70B5-004F-36C92F5BCA5F}"/>
              </a:ext>
            </a:extLst>
          </p:cNvPr>
          <p:cNvSpPr/>
          <p:nvPr/>
        </p:nvSpPr>
        <p:spPr>
          <a:xfrm flipH="1">
            <a:off x="571239" y="4087704"/>
            <a:ext cx="2783338" cy="720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PART 02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ea typeface="方正悠黑_GB18030_中" panose="020000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A5618621-3AAA-6AF0-12B1-4D5416046605}"/>
              </a:ext>
            </a:extLst>
          </p:cNvPr>
          <p:cNvSpPr/>
          <p:nvPr/>
        </p:nvSpPr>
        <p:spPr>
          <a:xfrm>
            <a:off x="5649249" y="-540035"/>
            <a:ext cx="2406528" cy="2406528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C35877-B66F-C2FC-B6A1-D200CD7D3089}"/>
              </a:ext>
            </a:extLst>
          </p:cNvPr>
          <p:cNvGrpSpPr/>
          <p:nvPr/>
        </p:nvGrpSpPr>
        <p:grpSpPr>
          <a:xfrm>
            <a:off x="6360502" y="3305251"/>
            <a:ext cx="7438947" cy="1479974"/>
            <a:chOff x="5295577" y="3730304"/>
            <a:chExt cx="7438947" cy="1479974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4A15273-DA10-8DEE-F5E8-0F7CE1E17B8F}"/>
                </a:ext>
              </a:extLst>
            </p:cNvPr>
            <p:cNvSpPr txBox="1"/>
            <p:nvPr/>
          </p:nvSpPr>
          <p:spPr>
            <a:xfrm>
              <a:off x="5304744" y="4446607"/>
              <a:ext cx="5203709" cy="76367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华文细黑" pitchFamily="2" charset="-122"/>
                  <a:cs typeface="Times New Roman" panose="02020603050405020304" pitchFamily="18" charset="0"/>
                  <a:sym typeface="微软雅黑"/>
                </a:rPr>
                <a:t>This section examines whether inflated sales are reflected in abnormal accounts receivable patterns.</a:t>
              </a: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CC230CE0-3E60-28CD-7371-C1D1F63C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782" y="3730304"/>
              <a:ext cx="7091742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Simple Fraud Pattern</a:t>
              </a:r>
              <a:endPara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CC83E95-CD77-F83C-73A1-9141E28C7CC3}"/>
                </a:ext>
              </a:extLst>
            </p:cNvPr>
            <p:cNvCxnSpPr>
              <a:cxnSpLocks/>
            </p:cNvCxnSpPr>
            <p:nvPr/>
          </p:nvCxnSpPr>
          <p:spPr>
            <a:xfrm>
              <a:off x="5295577" y="4374643"/>
              <a:ext cx="500549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B430400A-3936-8A02-268C-C95498D47FC7}"/>
              </a:ext>
            </a:extLst>
          </p:cNvPr>
          <p:cNvSpPr/>
          <p:nvPr/>
        </p:nvSpPr>
        <p:spPr>
          <a:xfrm flipH="1">
            <a:off x="11292114" y="5965371"/>
            <a:ext cx="899886" cy="899886"/>
          </a:xfrm>
          <a:prstGeom prst="rt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C0BD7C-04F9-0638-4806-745E46705F0F}"/>
              </a:ext>
            </a:extLst>
          </p:cNvPr>
          <p:cNvSpPr/>
          <p:nvPr/>
        </p:nvSpPr>
        <p:spPr>
          <a:xfrm rot="2706019">
            <a:off x="870246" y="3353853"/>
            <a:ext cx="2185324" cy="218916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5E069DA-F788-4422-394B-00F7BE602E0A}"/>
              </a:ext>
            </a:extLst>
          </p:cNvPr>
          <p:cNvGrpSpPr/>
          <p:nvPr/>
        </p:nvGrpSpPr>
        <p:grpSpPr>
          <a:xfrm>
            <a:off x="95052" y="2736415"/>
            <a:ext cx="3524181" cy="3440069"/>
            <a:chOff x="10681" y="2494998"/>
            <a:chExt cx="3905802" cy="3905802"/>
          </a:xfrm>
        </p:grpSpPr>
        <p:sp>
          <p:nvSpPr>
            <p:cNvPr id="12" name="菱形 11">
              <a:extLst>
                <a:ext uri="{FF2B5EF4-FFF2-40B4-BE49-F238E27FC236}">
                  <a16:creationId xmlns:a16="http://schemas.microsoft.com/office/drawing/2014/main" id="{991C794C-57F2-F5E1-4DCF-C57A8D658A34}"/>
                </a:ext>
              </a:extLst>
            </p:cNvPr>
            <p:cNvSpPr/>
            <p:nvPr/>
          </p:nvSpPr>
          <p:spPr>
            <a:xfrm>
              <a:off x="10681" y="2494998"/>
              <a:ext cx="3905802" cy="3905802"/>
            </a:xfrm>
            <a:prstGeom prst="diamond">
              <a:avLst/>
            </a:prstGeom>
            <a:solidFill>
              <a:srgbClr val="3658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A0A7A21-1D06-F281-B955-9731DABEE712}"/>
                </a:ext>
              </a:extLst>
            </p:cNvPr>
            <p:cNvSpPr/>
            <p:nvPr/>
          </p:nvSpPr>
          <p:spPr>
            <a:xfrm flipH="1">
              <a:off x="571238" y="4074611"/>
              <a:ext cx="2783338" cy="7465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方正悠黑_GB18030_中" panose="020000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PART 02</a:t>
              </a:r>
              <a:endPara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A07D63D-9B76-2CC1-9A4B-C78C8817FBC4}"/>
                </a:ext>
              </a:extLst>
            </p:cNvPr>
            <p:cNvSpPr/>
            <p:nvPr/>
          </p:nvSpPr>
          <p:spPr>
            <a:xfrm rot="2706019">
              <a:off x="870246" y="3353853"/>
              <a:ext cx="2185324" cy="2189164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菱形 10">
            <a:extLst>
              <a:ext uri="{FF2B5EF4-FFF2-40B4-BE49-F238E27FC236}">
                <a16:creationId xmlns:a16="http://schemas.microsoft.com/office/drawing/2014/main" id="{C6EBED97-9386-FBD6-64C3-13C5AA7EF092}"/>
              </a:ext>
            </a:extLst>
          </p:cNvPr>
          <p:cNvSpPr/>
          <p:nvPr/>
        </p:nvSpPr>
        <p:spPr>
          <a:xfrm>
            <a:off x="2942933" y="3890173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70654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B177-E047-853C-FDF2-1755BCF0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D20FCFAF-E3D4-ED5C-56DA-6782CD7A3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Growth in Accounts Receivable VS. Growth in Sales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03CE539E-7EB2-6E81-71FD-B85DDDD0FC57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8A2072-0890-C3CD-259E-AD11BFEADFDF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0B505A-42C1-42A5-DFBD-4B207D1DD994}"/>
              </a:ext>
            </a:extLst>
          </p:cNvPr>
          <p:cNvSpPr txBox="1"/>
          <p:nvPr/>
        </p:nvSpPr>
        <p:spPr>
          <a:xfrm flipH="1">
            <a:off x="762531" y="1089563"/>
            <a:ext cx="7857593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Accounts Receivable (AR) = (AR in year t / AR in year t-1) – 1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Sales = (Sales in year t / Sales in year t-1) – 1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ABC39C-DC55-CB01-21FC-C9ED5990921F}"/>
              </a:ext>
            </a:extLst>
          </p:cNvPr>
          <p:cNvSpPr txBox="1"/>
          <p:nvPr/>
        </p:nvSpPr>
        <p:spPr>
          <a:xfrm>
            <a:off x="6797040" y="2049891"/>
            <a:ext cx="4047305" cy="17690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AR growth &gt;  Sales growth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Especially clear in </a:t>
            </a:r>
            <a:r>
              <a:rPr lang="en-US" altLang="zh-CN" sz="1800" b="1" dirty="0"/>
              <a:t>2017</a:t>
            </a:r>
            <a:r>
              <a:rPr lang="en-US" altLang="zh-CN" sz="1800" dirty="0"/>
              <a:t> and </a:t>
            </a:r>
            <a:r>
              <a:rPr lang="en-US" altLang="zh-CN" sz="1800" b="1" dirty="0"/>
              <a:t>2018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2018: AR </a:t>
            </a:r>
            <a:r>
              <a:rPr lang="en-US" altLang="zh-CN" sz="1800" b="1" dirty="0"/>
              <a:t>+43.8% </a:t>
            </a:r>
            <a:r>
              <a:rPr lang="en-US" altLang="zh-CN" sz="1800" dirty="0"/>
              <a:t>vs Sales </a:t>
            </a:r>
            <a:r>
              <a:rPr lang="en-US" altLang="zh-CN" sz="1800" b="1" dirty="0"/>
              <a:t>+1.4%</a:t>
            </a:r>
            <a:r>
              <a:rPr lang="en-US" altLang="zh-CN" sz="1800" dirty="0"/>
              <a:t> </a:t>
            </a: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025017C1-7BA5-1E74-095E-CCD0F5DE0A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326774"/>
              </p:ext>
            </p:extLst>
          </p:nvPr>
        </p:nvGraphicFramePr>
        <p:xfrm>
          <a:off x="1283842" y="2658246"/>
          <a:ext cx="4812158" cy="3007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3947DED7-5844-E621-2E72-EAACB9964E8B}"/>
              </a:ext>
            </a:extLst>
          </p:cNvPr>
          <p:cNvSpPr txBox="1"/>
          <p:nvPr/>
        </p:nvSpPr>
        <p:spPr>
          <a:xfrm>
            <a:off x="6797040" y="3892714"/>
            <a:ext cx="4632429" cy="216623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Interpretation: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Inflated sales may be recorded as </a:t>
            </a:r>
            <a:r>
              <a:rPr lang="en-US" altLang="zh-CN" sz="1800" b="1" dirty="0"/>
              <a:t>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No corresponding cash collection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AR grows faster than Sales → </a:t>
            </a:r>
            <a:r>
              <a:rPr lang="en-US" altLang="zh-CN" sz="1800" b="1" dirty="0"/>
              <a:t>abnormal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b="1" dirty="0"/>
              <a:t>Initial support</a:t>
            </a:r>
            <a:r>
              <a:rPr lang="en-US" altLang="zh-CN" sz="1800" dirty="0"/>
              <a:t> for the simple fraud pattern</a:t>
            </a:r>
          </a:p>
        </p:txBody>
      </p:sp>
    </p:spTree>
    <p:extLst>
      <p:ext uri="{BB962C8B-B14F-4D97-AF65-F5344CB8AC3E}">
        <p14:creationId xmlns:p14="http://schemas.microsoft.com/office/powerpoint/2010/main" val="146766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1E7C-9A49-90EA-B4A3-F2573340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2CDFAB8C-74ED-7F42-101A-595ECEA3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1050798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Compare Accounts Receivable Turnover Ratio with Gross Margin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894811D4-4406-2ABC-BA06-5D73C6C93175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0B3A54-BF0F-88E7-9ED0-5EB891136304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DD5C747-6A85-A27F-84C5-B2CB7A62B1E4}"/>
              </a:ext>
            </a:extLst>
          </p:cNvPr>
          <p:cNvSpPr txBox="1"/>
          <p:nvPr/>
        </p:nvSpPr>
        <p:spPr>
          <a:xfrm flipH="1">
            <a:off x="762530" y="1089563"/>
            <a:ext cx="8891832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 Receivable Turnover Ratio ≈ Sales / Average Accounts Receivable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Gross Margin = (Sales - Cost of goods sold) / Sales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234503-2CA6-1AA8-FF4C-DE0A8D344991}"/>
              </a:ext>
            </a:extLst>
          </p:cNvPr>
          <p:cNvSpPr txBox="1"/>
          <p:nvPr/>
        </p:nvSpPr>
        <p:spPr>
          <a:xfrm>
            <a:off x="6171647" y="1956605"/>
            <a:ext cx="3277685" cy="216623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AR turnover declined sharply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2017-2019:</a:t>
            </a:r>
            <a:r>
              <a:rPr lang="zh-CN" altLang="en-US" sz="1800" dirty="0"/>
              <a:t> </a:t>
            </a:r>
            <a:r>
              <a:rPr lang="en-US" altLang="zh-CN" sz="1800" b="1" dirty="0"/>
              <a:t>1.43 → 0.65</a:t>
            </a:r>
            <a:endParaRPr lang="en-GB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Gross margin also declined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Trend divergence was </a:t>
            </a:r>
            <a:r>
              <a:rPr lang="en-GB" altLang="zh-CN" sz="1800" b="1" dirty="0"/>
              <a:t>limited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8907813-4851-755F-8FB8-E611BD2019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40593"/>
              </p:ext>
            </p:extLst>
          </p:nvPr>
        </p:nvGraphicFramePr>
        <p:xfrm>
          <a:off x="906497" y="2653030"/>
          <a:ext cx="4747543" cy="3054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A29A9E3-CEAC-5715-507E-75A740410AF4}"/>
              </a:ext>
            </a:extLst>
          </p:cNvPr>
          <p:cNvSpPr txBox="1"/>
          <p:nvPr/>
        </p:nvSpPr>
        <p:spPr>
          <a:xfrm>
            <a:off x="6171647" y="4076673"/>
            <a:ext cx="5723173" cy="216623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Lower AR turnover → slower collection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Receivable quality may be weakening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Provides </a:t>
            </a:r>
            <a:r>
              <a:rPr lang="en-US" altLang="zh-CN" sz="1800" b="1" dirty="0"/>
              <a:t>moderate support </a:t>
            </a:r>
            <a:r>
              <a:rPr lang="en-US" altLang="zh-CN" sz="1800" dirty="0"/>
              <a:t>for the simple fraud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Not the strongest </a:t>
            </a:r>
            <a:r>
              <a:rPr lang="en-US" altLang="zh-CN" sz="1800" dirty="0"/>
              <a:t>evidence on its own</a:t>
            </a:r>
            <a:endParaRPr lang="en-GB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254234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B901-CA16-7364-8511-92E611A3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F5D05A30-61DD-5C16-FFED-D62081527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1060783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the ratio of Net Cash Flow from operations over Net Profits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03A2107E-B445-8139-5FB5-4413080D5E5C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5035BE-1386-C031-DD70-FD7441C93414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526E6B-0B9D-56D9-42F0-B917308E747B}"/>
              </a:ext>
            </a:extLst>
          </p:cNvPr>
          <p:cNvSpPr txBox="1"/>
          <p:nvPr/>
        </p:nvSpPr>
        <p:spPr>
          <a:xfrm flipH="1">
            <a:off x="762531" y="1089563"/>
            <a:ext cx="7857593" cy="498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</a:t>
            </a:r>
            <a:r>
              <a:rPr lang="en-US" altLang="zh-C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Cash_Profit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ratio = Net Cash Flow from operations / Net Profits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7658FF-6097-F318-9964-FFD72525CEF0}"/>
              </a:ext>
            </a:extLst>
          </p:cNvPr>
          <p:cNvSpPr txBox="1"/>
          <p:nvPr/>
        </p:nvSpPr>
        <p:spPr>
          <a:xfrm>
            <a:off x="5841136" y="1719436"/>
            <a:ext cx="6499288" cy="216623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Net </a:t>
            </a:r>
            <a:r>
              <a:rPr lang="en-US" altLang="zh-CN" sz="1800" dirty="0" err="1"/>
              <a:t>Cash_Profit</a:t>
            </a:r>
            <a:r>
              <a:rPr lang="en-US" altLang="zh-CN" sz="1800" dirty="0"/>
              <a:t> ratio remained weak in </a:t>
            </a:r>
            <a:r>
              <a:rPr lang="en-US" altLang="zh-CN" sz="1800" b="1" dirty="0"/>
              <a:t>2017-2019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Mean value was </a:t>
            </a:r>
            <a:r>
              <a:rPr lang="en-US" altLang="zh-CN" sz="1800" b="1" dirty="0"/>
              <a:t>around 0.08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Significantly below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Cash-profit conversion was </a:t>
            </a:r>
            <a:r>
              <a:rPr lang="en-US" altLang="zh-CN" sz="1800" b="1" dirty="0"/>
              <a:t>very weak 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C597692-9959-27D4-76B0-7F5791463A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0892927"/>
              </p:ext>
            </p:extLst>
          </p:nvPr>
        </p:nvGraphicFramePr>
        <p:xfrm>
          <a:off x="762531" y="2506705"/>
          <a:ext cx="4754168" cy="2928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C6428BB-4AA8-E60D-62C5-01AF0A50DD4E}"/>
              </a:ext>
            </a:extLst>
          </p:cNvPr>
          <p:cNvSpPr txBox="1"/>
          <p:nvPr/>
        </p:nvSpPr>
        <p:spPr>
          <a:xfrm>
            <a:off x="5841136" y="3970714"/>
            <a:ext cx="6499288" cy="216623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Interpretation: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Reported profits were </a:t>
            </a:r>
            <a:r>
              <a:rPr lang="en-US" altLang="zh-CN" sz="1800" b="1" dirty="0"/>
              <a:t>not supported </a:t>
            </a:r>
            <a:r>
              <a:rPr lang="en-US" altLang="zh-CN" sz="1800" dirty="0"/>
              <a:t>by operating cash 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Inflated sales may increase profit, but </a:t>
            </a:r>
            <a:r>
              <a:rPr lang="en-US" altLang="zh-CN" sz="1800" b="1" dirty="0"/>
              <a:t>not real cash inflow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Net profit was </a:t>
            </a:r>
            <a:r>
              <a:rPr lang="en-US" altLang="zh-CN" sz="1800" b="1" dirty="0"/>
              <a:t>not converted into cash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Strong support </a:t>
            </a:r>
            <a:r>
              <a:rPr lang="en-US" altLang="zh-CN" sz="1800" dirty="0"/>
              <a:t>for the simple fraud pattern </a:t>
            </a:r>
          </a:p>
        </p:txBody>
      </p:sp>
    </p:spTree>
    <p:extLst>
      <p:ext uri="{BB962C8B-B14F-4D97-AF65-F5344CB8AC3E}">
        <p14:creationId xmlns:p14="http://schemas.microsoft.com/office/powerpoint/2010/main" val="111086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F48A-D75A-B7E6-DAB2-20ABAF3FB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FF9082E2-EBDC-21B3-9CFD-568FC18D7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Check Accounts Receivable Bad Debt ratio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48ACA220-0B55-3D34-A0A8-4C9D1F42EFF1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B90D14-DA60-84B9-CD01-61DDAB980667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3BBEE3-B04E-2EED-57FB-A37727DD0D67}"/>
              </a:ext>
            </a:extLst>
          </p:cNvPr>
          <p:cNvSpPr txBox="1"/>
          <p:nvPr/>
        </p:nvSpPr>
        <p:spPr>
          <a:xfrm flipH="1">
            <a:off x="762530" y="1089563"/>
            <a:ext cx="10615786" cy="498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 Receivable Bad Debt ratio = Allowance for Doubtful Accounts / Total Accounts Receivable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31F2D2-8733-C892-6A34-C0F0CEFE2F33}"/>
              </a:ext>
            </a:extLst>
          </p:cNvPr>
          <p:cNvSpPr txBox="1"/>
          <p:nvPr/>
        </p:nvSpPr>
        <p:spPr>
          <a:xfrm>
            <a:off x="6070423" y="1665649"/>
            <a:ext cx="5226103" cy="46130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AR bad debt ratio increased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2017-2020:</a:t>
            </a:r>
            <a:r>
              <a:rPr lang="zh-CN" altLang="en-US" sz="1800" dirty="0"/>
              <a:t> </a:t>
            </a:r>
            <a:r>
              <a:rPr lang="en-US" altLang="zh-CN" sz="1800" b="1" dirty="0"/>
              <a:t>10% → 46%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The rise was significant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This is a </a:t>
            </a:r>
            <a:r>
              <a:rPr lang="en-US" altLang="zh-CN" sz="1800" b="1" dirty="0"/>
              <a:t>lagging indicator</a:t>
            </a:r>
          </a:p>
          <a:p>
            <a:pPr>
              <a:lnSpc>
                <a:spcPct val="100000"/>
              </a:lnSpc>
            </a:pPr>
            <a:endParaRPr lang="en-US" altLang="zh-CN" sz="1800" b="1" dirty="0"/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Fake receivables may not be impaired immediately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Higher provisions appeared in later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Receivable risk increased significantly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b="1" dirty="0"/>
              <a:t>Strong s</a:t>
            </a:r>
            <a:r>
              <a:rPr lang="en-US" altLang="zh-CN" sz="1800" b="1" dirty="0" err="1"/>
              <a:t>upport</a:t>
            </a:r>
            <a:r>
              <a:rPr lang="en-US" altLang="zh-CN" sz="1800" b="1" dirty="0"/>
              <a:t> </a:t>
            </a:r>
            <a:r>
              <a:rPr lang="en-US" altLang="zh-CN" sz="1800" dirty="0"/>
              <a:t>for the simple fraud pattern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02B02A9-6558-6A66-2904-A437AB7555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101069"/>
              </p:ext>
            </p:extLst>
          </p:nvPr>
        </p:nvGraphicFramePr>
        <p:xfrm>
          <a:off x="996763" y="2514600"/>
          <a:ext cx="4474398" cy="2915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1537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CD598-451E-7859-7D92-49395F4D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76FCD0EE-398D-8B14-BF73-6AF0F915A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255316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altLang="zh-CN" sz="32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388E7911-718F-641E-0121-7DB43F4428D3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DEA3066-C417-B552-A965-CC3B535A4258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5269B2-C607-68AC-3CDD-DB49AA01E3F0}"/>
              </a:ext>
            </a:extLst>
          </p:cNvPr>
          <p:cNvSpPr txBox="1"/>
          <p:nvPr/>
        </p:nvSpPr>
        <p:spPr>
          <a:xfrm flipH="1">
            <a:off x="762532" y="1873866"/>
            <a:ext cx="10615786" cy="5799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fraud pattern (inflating Accounts Receivable)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inflating Sales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62E3383-5274-81DB-D337-62CCF08B6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2784045"/>
            <a:ext cx="6568572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growth &gt; Sales growth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Turnover </a:t>
            </a:r>
            <a:r>
              <a:rPr lang="pt-BR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pt-BR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declined</a:t>
            </a:r>
            <a:r>
              <a:rPr lang="pt-B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</a:t>
            </a:r>
            <a:endParaRPr lang="pt-BR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Net Cash_Profit ratio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far below 1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bad debt ratio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later </a:t>
            </a:r>
          </a:p>
        </p:txBody>
      </p:sp>
    </p:spTree>
    <p:extLst>
      <p:ext uri="{BB962C8B-B14F-4D97-AF65-F5344CB8AC3E}">
        <p14:creationId xmlns:p14="http://schemas.microsoft.com/office/powerpoint/2010/main" val="1676114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38F0-C39E-FC7A-D0C5-A0D47735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V 形 35">
            <a:extLst>
              <a:ext uri="{FF2B5EF4-FFF2-40B4-BE49-F238E27FC236}">
                <a16:creationId xmlns:a16="http://schemas.microsoft.com/office/drawing/2014/main" id="{C592D910-48E3-F7B4-B54F-551296E2FE24}"/>
              </a:ext>
            </a:extLst>
          </p:cNvPr>
          <p:cNvSpPr/>
          <p:nvPr/>
        </p:nvSpPr>
        <p:spPr>
          <a:xfrm>
            <a:off x="368834" y="0"/>
            <a:ext cx="8028000" cy="5976000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aturation sat="2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780" t="-5121" r="-224" b="903"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CAECDE1F-F4F6-3E47-E9E4-95BCA4EE2C2B}"/>
              </a:ext>
            </a:extLst>
          </p:cNvPr>
          <p:cNvCxnSpPr>
            <a:cxnSpLocks/>
          </p:cNvCxnSpPr>
          <p:nvPr/>
        </p:nvCxnSpPr>
        <p:spPr>
          <a:xfrm flipH="1">
            <a:off x="4374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927EF807-BD25-4362-7111-80C423F3F690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8F3550E-D38C-62A5-8794-E2CFF027813E}"/>
              </a:ext>
            </a:extLst>
          </p:cNvPr>
          <p:cNvSpPr/>
          <p:nvPr/>
        </p:nvSpPr>
        <p:spPr>
          <a:xfrm flipH="1">
            <a:off x="571239" y="4087704"/>
            <a:ext cx="2783338" cy="720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PART 03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ea typeface="方正悠黑_GB18030_中" panose="020000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2E68426F-752B-1336-1A83-7A3EFC4E4BA6}"/>
              </a:ext>
            </a:extLst>
          </p:cNvPr>
          <p:cNvSpPr/>
          <p:nvPr/>
        </p:nvSpPr>
        <p:spPr>
          <a:xfrm>
            <a:off x="5649249" y="-540035"/>
            <a:ext cx="2406528" cy="2406528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25E167A-F7BA-906B-799D-DFB348A812BB}"/>
              </a:ext>
            </a:extLst>
          </p:cNvPr>
          <p:cNvSpPr/>
          <p:nvPr/>
        </p:nvSpPr>
        <p:spPr>
          <a:xfrm flipH="1">
            <a:off x="11292114" y="5965371"/>
            <a:ext cx="899886" cy="899886"/>
          </a:xfrm>
          <a:prstGeom prst="rt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2EAFD8-8172-44A9-DA03-CC9B3F62B446}"/>
              </a:ext>
            </a:extLst>
          </p:cNvPr>
          <p:cNvSpPr/>
          <p:nvPr/>
        </p:nvSpPr>
        <p:spPr>
          <a:xfrm rot="2706019">
            <a:off x="870246" y="3353853"/>
            <a:ext cx="2185324" cy="218916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B0D4A0F-1815-2046-1FC7-C24417E6041A}"/>
              </a:ext>
            </a:extLst>
          </p:cNvPr>
          <p:cNvGrpSpPr/>
          <p:nvPr/>
        </p:nvGrpSpPr>
        <p:grpSpPr>
          <a:xfrm>
            <a:off x="95052" y="2736415"/>
            <a:ext cx="3524181" cy="3440069"/>
            <a:chOff x="10681" y="2494998"/>
            <a:chExt cx="3905802" cy="3905802"/>
          </a:xfrm>
        </p:grpSpPr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41D792FB-4C39-10AD-3DB3-F6FD00F59118}"/>
                </a:ext>
              </a:extLst>
            </p:cNvPr>
            <p:cNvSpPr/>
            <p:nvPr/>
          </p:nvSpPr>
          <p:spPr>
            <a:xfrm>
              <a:off x="10681" y="2494998"/>
              <a:ext cx="3905802" cy="3905802"/>
            </a:xfrm>
            <a:prstGeom prst="diamond">
              <a:avLst/>
            </a:prstGeom>
            <a:solidFill>
              <a:srgbClr val="3658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DF72815-D3BC-6972-E1EB-61151466A54F}"/>
                </a:ext>
              </a:extLst>
            </p:cNvPr>
            <p:cNvSpPr/>
            <p:nvPr/>
          </p:nvSpPr>
          <p:spPr>
            <a:xfrm flipH="1">
              <a:off x="571238" y="4074611"/>
              <a:ext cx="2783338" cy="7465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方正悠黑_GB18030_中" panose="020000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PART 03</a:t>
              </a:r>
              <a:endPara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094BFFF-28EF-1F2F-570C-29B2E4E0C51C}"/>
                </a:ext>
              </a:extLst>
            </p:cNvPr>
            <p:cNvSpPr/>
            <p:nvPr/>
          </p:nvSpPr>
          <p:spPr>
            <a:xfrm rot="2706019">
              <a:off x="870246" y="3353853"/>
              <a:ext cx="2185324" cy="2189164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菱形 10">
            <a:extLst>
              <a:ext uri="{FF2B5EF4-FFF2-40B4-BE49-F238E27FC236}">
                <a16:creationId xmlns:a16="http://schemas.microsoft.com/office/drawing/2014/main" id="{2DDBF2AB-0816-A888-1CD3-94AE767BEAC1}"/>
              </a:ext>
            </a:extLst>
          </p:cNvPr>
          <p:cNvSpPr/>
          <p:nvPr/>
        </p:nvSpPr>
        <p:spPr>
          <a:xfrm>
            <a:off x="2942933" y="3881623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29092C-CB5B-19D8-7793-68BE7A39C859}"/>
              </a:ext>
            </a:extLst>
          </p:cNvPr>
          <p:cNvGrpSpPr/>
          <p:nvPr/>
        </p:nvGrpSpPr>
        <p:grpSpPr>
          <a:xfrm>
            <a:off x="6360502" y="3323629"/>
            <a:ext cx="7272016" cy="1461596"/>
            <a:chOff x="5295577" y="3748682"/>
            <a:chExt cx="7272016" cy="146159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541B363-40A3-8D75-0EFA-6C3762E9D4E7}"/>
                </a:ext>
              </a:extLst>
            </p:cNvPr>
            <p:cNvSpPr txBox="1"/>
            <p:nvPr/>
          </p:nvSpPr>
          <p:spPr>
            <a:xfrm>
              <a:off x="5304744" y="4446607"/>
              <a:ext cx="5203709" cy="76367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华文细黑" pitchFamily="2" charset="-122"/>
                  <a:cs typeface="Times New Roman" panose="02020603050405020304" pitchFamily="18" charset="0"/>
                  <a:sym typeface="微软雅黑"/>
                </a:rPr>
                <a:t>This section explores whether cash recycle through outside parties supports inflated sales.</a:t>
              </a: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9A97F8D4-C7A5-6EBF-E3F4-BF25F0502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5851" y="3748682"/>
              <a:ext cx="7091742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Complex Fraud Pattern</a:t>
              </a:r>
              <a:endPara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B27923-32AB-BF46-FED1-8D3C44AD6846}"/>
                </a:ext>
              </a:extLst>
            </p:cNvPr>
            <p:cNvCxnSpPr>
              <a:cxnSpLocks/>
            </p:cNvCxnSpPr>
            <p:nvPr/>
          </p:nvCxnSpPr>
          <p:spPr>
            <a:xfrm>
              <a:off x="5295577" y="4374643"/>
              <a:ext cx="500549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720290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7688-D412-9F0D-8AF7-97CE8469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144B313B-E4BD-3EA3-00F7-AA26F9BE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(1). Check the growth in Other Receivable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1F5130AE-6E4B-F6E4-52CF-BF7C5F67DF3E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DC61AD-4646-01BA-1D1C-D1188F79FA56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33B784-7E92-BC94-71F1-BF606B8192BB}"/>
              </a:ext>
            </a:extLst>
          </p:cNvPr>
          <p:cNvSpPr txBox="1"/>
          <p:nvPr/>
        </p:nvSpPr>
        <p:spPr>
          <a:xfrm flipH="1">
            <a:off x="762531" y="1089563"/>
            <a:ext cx="7857593" cy="498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Other Receivable (OR) = (OR in year t / OR in year t-1) – 1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E04A98-5BE9-99F9-14FA-A629EF1F0026}"/>
              </a:ext>
            </a:extLst>
          </p:cNvPr>
          <p:cNvSpPr txBox="1"/>
          <p:nvPr/>
        </p:nvSpPr>
        <p:spPr>
          <a:xfrm>
            <a:off x="5960906" y="1744074"/>
            <a:ext cx="5318436" cy="45664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OR growth increased dramatically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Especially obvious in </a:t>
            </a:r>
            <a:r>
              <a:rPr lang="en-US" altLang="zh-CN" sz="1800" b="1" dirty="0"/>
              <a:t>2018</a:t>
            </a:r>
            <a:r>
              <a:rPr lang="en-US" altLang="zh-CN" sz="1800" dirty="0"/>
              <a:t> and </a:t>
            </a:r>
            <a:r>
              <a:rPr lang="en-US" altLang="zh-CN" sz="1800" b="1" dirty="0"/>
              <a:t>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2018</a:t>
            </a:r>
            <a:r>
              <a:rPr lang="en-US" altLang="zh-CN" sz="1800" dirty="0"/>
              <a:t>: OR growth </a:t>
            </a:r>
            <a:r>
              <a:rPr lang="en-US" altLang="zh-CN" sz="1800" b="1" dirty="0"/>
              <a:t>≈ 523%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increase was </a:t>
            </a:r>
            <a:r>
              <a:rPr lang="en-US" altLang="zh-CN" sz="1800" b="1" dirty="0"/>
              <a:t>highly abnormal</a:t>
            </a:r>
          </a:p>
          <a:p>
            <a:pPr>
              <a:lnSpc>
                <a:spcPct val="100000"/>
              </a:lnSpc>
            </a:pPr>
            <a:endParaRPr lang="en-US" altLang="zh-CN" sz="1800" dirty="0"/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Cash outflow may be recorded as </a:t>
            </a:r>
            <a:r>
              <a:rPr lang="en-US" altLang="zh-CN" sz="1800" b="1" dirty="0"/>
              <a:t>Other Receivable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Significant OR growth </a:t>
            </a:r>
            <a:r>
              <a:rPr lang="zh-CN" altLang="en-US" sz="1800" dirty="0"/>
              <a:t>→ </a:t>
            </a:r>
            <a:r>
              <a:rPr lang="en-US" altLang="zh-CN" sz="1800" b="1" dirty="0"/>
              <a:t>abnormal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May indicate fund transfers through </a:t>
            </a:r>
            <a:r>
              <a:rPr lang="en-US" altLang="zh-CN" sz="1800" b="1" dirty="0"/>
              <a:t>outside parties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Strong support </a:t>
            </a:r>
            <a:r>
              <a:rPr lang="en-US" altLang="zh-CN" sz="1800" dirty="0"/>
              <a:t>for the complex fraud pattern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E4CF4BE-0D59-F4A0-425A-9485E3F541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080437"/>
              </p:ext>
            </p:extLst>
          </p:nvPr>
        </p:nvGraphicFramePr>
        <p:xfrm>
          <a:off x="854152" y="2527943"/>
          <a:ext cx="4639537" cy="299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58940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4E9A-B6B8-A718-D57B-993C5D63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26580EC6-F65B-6D86-EB6F-7AB69C4C3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(2). Check the Other Receivable Turnover Ratio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2D0AC07-7310-6522-A37E-7A7FB52E7B19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DB62FF-0F78-F830-28F1-DFBAB1E1CE3E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EB2CD3-D96D-4C8C-1650-F9BA3D942749}"/>
              </a:ext>
            </a:extLst>
          </p:cNvPr>
          <p:cNvSpPr txBox="1"/>
          <p:nvPr/>
        </p:nvSpPr>
        <p:spPr>
          <a:xfrm flipH="1">
            <a:off x="762530" y="1089563"/>
            <a:ext cx="9454895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Receivable Turnover Ratio = Sales / Average Other Receivable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Other Receivable = (Previous year + Current year Other Receivable) / 2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061821-4D9F-C7E5-DBEE-62EE0E4D5F3B}"/>
              </a:ext>
            </a:extLst>
          </p:cNvPr>
          <p:cNvSpPr txBox="1"/>
          <p:nvPr/>
        </p:nvSpPr>
        <p:spPr>
          <a:xfrm>
            <a:off x="5662877" y="2044253"/>
            <a:ext cx="6016890" cy="42898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OR turnover ratio declined sharply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2017-2019:</a:t>
            </a:r>
            <a:r>
              <a:rPr lang="zh-CN" altLang="en-US" sz="1800" dirty="0"/>
              <a:t> </a:t>
            </a:r>
            <a:r>
              <a:rPr lang="en-US" altLang="zh-CN" sz="1800" b="1" dirty="0"/>
              <a:t>288.6 → 9.8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decline was </a:t>
            </a:r>
            <a:r>
              <a:rPr lang="en-US" altLang="zh-CN" sz="1800" b="1" dirty="0"/>
              <a:t>very dramatic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Indicates rapid OR accumulation</a:t>
            </a:r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Cash flow may accumulate in </a:t>
            </a:r>
            <a:r>
              <a:rPr lang="en-US" altLang="zh-CN" sz="1800" b="1" dirty="0"/>
              <a:t>Other Receivable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Falling OR turnover ratio → </a:t>
            </a:r>
            <a:r>
              <a:rPr lang="en-US" altLang="zh-CN" sz="1800" b="1" dirty="0"/>
              <a:t>abnormal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May indicate hidden fund transfers through </a:t>
            </a:r>
            <a:r>
              <a:rPr lang="en-US" altLang="zh-CN" sz="1800" b="1" dirty="0"/>
              <a:t>outside parties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Strong support </a:t>
            </a:r>
            <a:r>
              <a:rPr lang="en-US" altLang="zh-CN" sz="1800" dirty="0"/>
              <a:t>for the complex fraud pattern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7F697E7-A604-C855-92F6-BC58BF24B9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9203187"/>
              </p:ext>
            </p:extLst>
          </p:nvPr>
        </p:nvGraphicFramePr>
        <p:xfrm>
          <a:off x="1060397" y="2725401"/>
          <a:ext cx="4237014" cy="2927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1222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7DEB-2E01-BDC5-F307-318EBF90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D2696734-C139-00FD-9B5C-42B5EBBBE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(1). Check the growth in Prepayment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C3C7E5F7-9E78-31ED-8AE2-2ABFFEFC9189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560FD3-AE8C-DA33-78D6-EDD5F78A93FD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CD9D54-52FD-1884-AD34-16DBAD834DFC}"/>
              </a:ext>
            </a:extLst>
          </p:cNvPr>
          <p:cNvSpPr txBox="1"/>
          <p:nvPr/>
        </p:nvSpPr>
        <p:spPr>
          <a:xfrm flipH="1">
            <a:off x="762530" y="1089563"/>
            <a:ext cx="9454895" cy="498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Prepayment = (Prepayment in year t / Prepayment in year t-1) – 1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E36F93-8CF9-B2BD-0617-9CC8416BE28E}"/>
              </a:ext>
            </a:extLst>
          </p:cNvPr>
          <p:cNvSpPr txBox="1"/>
          <p:nvPr/>
        </p:nvSpPr>
        <p:spPr>
          <a:xfrm>
            <a:off x="5563233" y="2139704"/>
            <a:ext cx="6209667" cy="378206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Prepayment growth spiked in </a:t>
            </a:r>
            <a:r>
              <a:rPr lang="en-US" altLang="zh-CN" sz="1800" b="1" dirty="0"/>
              <a:t>2017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Turned</a:t>
            </a:r>
            <a:r>
              <a:rPr lang="en-US" altLang="zh-CN" sz="1800" b="1" dirty="0"/>
              <a:t> negative </a:t>
            </a:r>
            <a:r>
              <a:rPr lang="en-US" altLang="zh-CN" sz="1800" dirty="0"/>
              <a:t>in </a:t>
            </a:r>
            <a:r>
              <a:rPr lang="en-US" altLang="zh-CN" sz="1800" b="1" dirty="0"/>
              <a:t>2018</a:t>
            </a:r>
            <a:r>
              <a:rPr lang="en-US" altLang="zh-CN" sz="1800" dirty="0"/>
              <a:t> and </a:t>
            </a:r>
            <a:r>
              <a:rPr lang="en-US" altLang="zh-CN" sz="1800" b="1" dirty="0"/>
              <a:t>2019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pattern </a:t>
            </a:r>
            <a:r>
              <a:rPr lang="en-US" altLang="zh-CN" sz="1800" b="1" dirty="0"/>
              <a:t>was not consistently strong</a:t>
            </a:r>
          </a:p>
          <a:p>
            <a:pPr>
              <a:lnSpc>
                <a:spcPct val="100000"/>
              </a:lnSpc>
            </a:pPr>
            <a:endParaRPr lang="en-US" altLang="zh-CN" sz="1800" dirty="0"/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Cash outflow may be recorded as </a:t>
            </a:r>
            <a:r>
              <a:rPr lang="en-US" altLang="zh-CN" sz="1800" b="1" dirty="0"/>
              <a:t>Prepayment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A spike in Prepayment may indicate </a:t>
            </a:r>
            <a:r>
              <a:rPr lang="en-US" altLang="zh-CN" sz="1800" b="1" dirty="0"/>
              <a:t>advance cash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Limited to moderate support </a:t>
            </a:r>
            <a:r>
              <a:rPr lang="en-US" altLang="zh-CN" sz="1800" dirty="0"/>
              <a:t>for the complex fraud pattern </a:t>
            </a: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E857957D-FEFA-5142-C2AC-18E483995C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895213"/>
              </p:ext>
            </p:extLst>
          </p:nvPr>
        </p:nvGraphicFramePr>
        <p:xfrm>
          <a:off x="1073723" y="2613660"/>
          <a:ext cx="4006640" cy="2663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548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CAC8-8DD5-4F80-E650-0449D117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2F158CC4-D4D2-903C-8566-EFA419632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(2). Check the Prepayment Turnover Ratio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D6D5FFF-6203-C035-C318-39DAF17EB7BC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89D12B-FD7F-A379-C86B-6A54C3BA6237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6A578F-F17E-1B2D-0A52-B2732A96FBD7}"/>
              </a:ext>
            </a:extLst>
          </p:cNvPr>
          <p:cNvSpPr txBox="1"/>
          <p:nvPr/>
        </p:nvSpPr>
        <p:spPr>
          <a:xfrm flipH="1">
            <a:off x="762530" y="1089563"/>
            <a:ext cx="9454895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Prepayment Turnover Ratio = Cost of goods sold / Average Prepayment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Prepayment = (Previous year + Current year Prepayment) / 2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D1F830-CEC0-B23F-885C-94E2CDE0BB2A}"/>
              </a:ext>
            </a:extLst>
          </p:cNvPr>
          <p:cNvSpPr txBox="1"/>
          <p:nvPr/>
        </p:nvSpPr>
        <p:spPr>
          <a:xfrm>
            <a:off x="5664551" y="2128568"/>
            <a:ext cx="5902610" cy="41497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Prepayment turnover ratio declined slightly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2017-2019:</a:t>
            </a:r>
            <a:r>
              <a:rPr lang="zh-CN" altLang="en-US" sz="1800" dirty="0"/>
              <a:t> </a:t>
            </a:r>
            <a:r>
              <a:rPr lang="en-US" altLang="zh-CN" sz="1800" b="1" dirty="0"/>
              <a:t>6.25 → 5.20</a:t>
            </a:r>
            <a:endParaRPr lang="en-US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decline was </a:t>
            </a:r>
            <a:r>
              <a:rPr lang="en-US" altLang="zh-CN" sz="1800" b="1" dirty="0"/>
              <a:t>not very dramatic</a:t>
            </a:r>
          </a:p>
          <a:p>
            <a:pPr>
              <a:lnSpc>
                <a:spcPct val="100000"/>
              </a:lnSpc>
            </a:pPr>
            <a:r>
              <a:rPr lang="en-US" altLang="zh-CN" sz="1800" b="1" dirty="0"/>
              <a:t> </a:t>
            </a:r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Lower turnover may indicate slower prepayment turnover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evidence was </a:t>
            </a:r>
            <a:r>
              <a:rPr lang="en-US" altLang="zh-CN" sz="1800" b="1" dirty="0"/>
              <a:t>relatively weak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Weaker than the </a:t>
            </a:r>
            <a:r>
              <a:rPr lang="en-US" altLang="zh-CN" sz="1800" b="1" dirty="0"/>
              <a:t>Other Receivable</a:t>
            </a:r>
            <a:r>
              <a:rPr lang="en-US" altLang="zh-CN" sz="1800" dirty="0"/>
              <a:t>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Limited support</a:t>
            </a:r>
            <a:r>
              <a:rPr lang="en-US" altLang="zh-CN" sz="1800" dirty="0"/>
              <a:t> for the complex fraud pattern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832F0DC7-413C-05A0-021B-7FD407C3AD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811903"/>
              </p:ext>
            </p:extLst>
          </p:nvPr>
        </p:nvGraphicFramePr>
        <p:xfrm>
          <a:off x="983692" y="2835773"/>
          <a:ext cx="4280996" cy="2735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3793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3A0F-E1AB-4780-287E-664C98CA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B141C48F-15B5-E274-B575-7F62AD544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255316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altLang="zh-CN" sz="32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D32CC8E-4971-5D60-2FBA-66C8C0592E8D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B817A7-2330-53CA-08A1-2AA7F665C05B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873A2F-30E6-7F82-4FAE-B5053A0FC157}"/>
              </a:ext>
            </a:extLst>
          </p:cNvPr>
          <p:cNvSpPr txBox="1"/>
          <p:nvPr/>
        </p:nvSpPr>
        <p:spPr>
          <a:xfrm flipH="1">
            <a:off x="762532" y="1873866"/>
            <a:ext cx="10615786" cy="5799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fraud pattern (cash recycle)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inflating Sales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B07207B-CE1E-CC7E-DE21-2AED237E4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2784045"/>
            <a:ext cx="6568572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Receivable growth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highly abnormal 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Receivable turnover ratio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declined sharply 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Prepayment growth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spiked in 2017 only 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Prepayment turnover ratio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weak but declining </a:t>
            </a:r>
          </a:p>
        </p:txBody>
      </p:sp>
    </p:spTree>
    <p:extLst>
      <p:ext uri="{BB962C8B-B14F-4D97-AF65-F5344CB8AC3E}">
        <p14:creationId xmlns:p14="http://schemas.microsoft.com/office/powerpoint/2010/main" val="108884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03F1-1A89-7F1A-69C9-B19FAF51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V 形 35">
            <a:extLst>
              <a:ext uri="{FF2B5EF4-FFF2-40B4-BE49-F238E27FC236}">
                <a16:creationId xmlns:a16="http://schemas.microsoft.com/office/drawing/2014/main" id="{341E8D11-E906-C236-E4B7-B503E6ECDCB8}"/>
              </a:ext>
            </a:extLst>
          </p:cNvPr>
          <p:cNvSpPr/>
          <p:nvPr/>
        </p:nvSpPr>
        <p:spPr>
          <a:xfrm>
            <a:off x="368834" y="0"/>
            <a:ext cx="8028000" cy="5976000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saturation sat="61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1298" t="-301" r="-20406" b="-301"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1C3DAAFF-5F2F-CBE6-3493-42CF27999318}"/>
              </a:ext>
            </a:extLst>
          </p:cNvPr>
          <p:cNvCxnSpPr>
            <a:cxnSpLocks/>
          </p:cNvCxnSpPr>
          <p:nvPr/>
        </p:nvCxnSpPr>
        <p:spPr>
          <a:xfrm flipH="1">
            <a:off x="4374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ABC6A25C-2B0A-10CA-31F6-7103ED4718B9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0DD53A87-10C7-2FFF-EC02-4E25BA9048FF}"/>
              </a:ext>
            </a:extLst>
          </p:cNvPr>
          <p:cNvSpPr/>
          <p:nvPr/>
        </p:nvSpPr>
        <p:spPr>
          <a:xfrm flipH="1">
            <a:off x="571239" y="4087704"/>
            <a:ext cx="2783338" cy="720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PART 04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ea typeface="方正悠黑_GB18030_中" panose="020000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2D07C282-CB14-D10C-EBB9-02515C36BD2D}"/>
              </a:ext>
            </a:extLst>
          </p:cNvPr>
          <p:cNvSpPr/>
          <p:nvPr/>
        </p:nvSpPr>
        <p:spPr>
          <a:xfrm>
            <a:off x="5649249" y="-540035"/>
            <a:ext cx="2406528" cy="2406528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2A2E4F-D1F5-47B7-38D6-998B496E8CDB}"/>
              </a:ext>
            </a:extLst>
          </p:cNvPr>
          <p:cNvGrpSpPr/>
          <p:nvPr/>
        </p:nvGrpSpPr>
        <p:grpSpPr>
          <a:xfrm>
            <a:off x="5972070" y="3373795"/>
            <a:ext cx="7175823" cy="1507756"/>
            <a:chOff x="4501361" y="4329211"/>
            <a:chExt cx="7175823" cy="1507756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06E7A87-76F1-CBB1-9C51-FCBE3EA1407F}"/>
                </a:ext>
              </a:extLst>
            </p:cNvPr>
            <p:cNvSpPr txBox="1"/>
            <p:nvPr/>
          </p:nvSpPr>
          <p:spPr>
            <a:xfrm>
              <a:off x="4607480" y="5073296"/>
              <a:ext cx="5979643" cy="76367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华文细黑" pitchFamily="2" charset="-122"/>
                  <a:cs typeface="Times New Roman" panose="02020603050405020304" pitchFamily="18" charset="0"/>
                  <a:sym typeface="微软雅黑"/>
                </a:rPr>
                <a:t>This section analyzes whether abnormal accounts payable and inventory patterns suggest inflated costs.</a:t>
              </a: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D74A95A5-146B-98E1-81BE-3D4019E82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442" y="4329211"/>
              <a:ext cx="7091742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Cost-Inflating Fraud Pattern</a:t>
              </a:r>
              <a:endPara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2F31629-1A99-31D7-6ECE-1915756576EF}"/>
                </a:ext>
              </a:extLst>
            </p:cNvPr>
            <p:cNvCxnSpPr>
              <a:cxnSpLocks/>
            </p:cNvCxnSpPr>
            <p:nvPr/>
          </p:nvCxnSpPr>
          <p:spPr>
            <a:xfrm>
              <a:off x="4501361" y="5019815"/>
              <a:ext cx="585109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12290119-1907-699E-02C3-D47E69D99023}"/>
              </a:ext>
            </a:extLst>
          </p:cNvPr>
          <p:cNvSpPr/>
          <p:nvPr/>
        </p:nvSpPr>
        <p:spPr>
          <a:xfrm flipH="1">
            <a:off x="11292114" y="5965371"/>
            <a:ext cx="899886" cy="899886"/>
          </a:xfrm>
          <a:prstGeom prst="rt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8855CA-A3A6-927B-C635-13F0BC278C06}"/>
              </a:ext>
            </a:extLst>
          </p:cNvPr>
          <p:cNvSpPr/>
          <p:nvPr/>
        </p:nvSpPr>
        <p:spPr>
          <a:xfrm rot="2706019">
            <a:off x="870246" y="3353853"/>
            <a:ext cx="2185324" cy="218916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26A7EB-BB1F-C63E-8E7E-288DB236D21E}"/>
              </a:ext>
            </a:extLst>
          </p:cNvPr>
          <p:cNvGrpSpPr/>
          <p:nvPr/>
        </p:nvGrpSpPr>
        <p:grpSpPr>
          <a:xfrm>
            <a:off x="95052" y="2736415"/>
            <a:ext cx="3524181" cy="3440069"/>
            <a:chOff x="10681" y="2494998"/>
            <a:chExt cx="3905802" cy="3905802"/>
          </a:xfrm>
        </p:grpSpPr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ECE23D13-C8CB-B3B8-F81B-8B03F750BD24}"/>
                </a:ext>
              </a:extLst>
            </p:cNvPr>
            <p:cNvSpPr/>
            <p:nvPr/>
          </p:nvSpPr>
          <p:spPr>
            <a:xfrm>
              <a:off x="10681" y="2494998"/>
              <a:ext cx="3905802" cy="3905802"/>
            </a:xfrm>
            <a:prstGeom prst="diamond">
              <a:avLst/>
            </a:prstGeom>
            <a:solidFill>
              <a:srgbClr val="3658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4A53DD0-E451-7B54-FEFD-2427536F4E3F}"/>
                </a:ext>
              </a:extLst>
            </p:cNvPr>
            <p:cNvSpPr/>
            <p:nvPr/>
          </p:nvSpPr>
          <p:spPr>
            <a:xfrm flipH="1">
              <a:off x="571238" y="4074611"/>
              <a:ext cx="2783338" cy="7465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方正悠黑_GB18030_中" panose="020000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PART 04</a:t>
              </a:r>
              <a:endPara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826DFFF-8D05-87C5-61D9-E8C7060EDEC7}"/>
                </a:ext>
              </a:extLst>
            </p:cNvPr>
            <p:cNvSpPr/>
            <p:nvPr/>
          </p:nvSpPr>
          <p:spPr>
            <a:xfrm rot="2706019">
              <a:off x="870246" y="3353853"/>
              <a:ext cx="2185324" cy="2189164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菱形 10">
            <a:extLst>
              <a:ext uri="{FF2B5EF4-FFF2-40B4-BE49-F238E27FC236}">
                <a16:creationId xmlns:a16="http://schemas.microsoft.com/office/drawing/2014/main" id="{55BE9DB7-2635-1872-D0D2-67C5DCD9A223}"/>
              </a:ext>
            </a:extLst>
          </p:cNvPr>
          <p:cNvSpPr/>
          <p:nvPr/>
        </p:nvSpPr>
        <p:spPr>
          <a:xfrm>
            <a:off x="2953676" y="3881623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55776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AC7F-3667-2B56-9B23-1A454E1C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F8EF45B6-1584-42AA-AF98-7B73EF6F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(1). Growth in Account Payable VS. Growth in COGS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BA401991-1FDC-4489-A53E-FD4DF6ECFB3C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C94E3C-B662-7393-8E6A-80AF40F5FDEB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738C36-B1A5-1902-C6E4-BF170708439E}"/>
              </a:ext>
            </a:extLst>
          </p:cNvPr>
          <p:cNvSpPr txBox="1"/>
          <p:nvPr/>
        </p:nvSpPr>
        <p:spPr>
          <a:xfrm flipH="1">
            <a:off x="762530" y="1089563"/>
            <a:ext cx="9454895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Account Payable (AP) = (AP in year t / AP in year t-1) – 1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COGS = (COGS in year t / COGS in year t-1) – 1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00428F-DB56-09BB-A902-4978A546CE82}"/>
              </a:ext>
            </a:extLst>
          </p:cNvPr>
          <p:cNvSpPr txBox="1"/>
          <p:nvPr/>
        </p:nvSpPr>
        <p:spPr>
          <a:xfrm>
            <a:off x="5844010" y="2049891"/>
            <a:ext cx="5585460" cy="437664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AP growth exceeded COGS growth in </a:t>
            </a:r>
            <a:r>
              <a:rPr lang="en-US" altLang="zh-CN" sz="1800" b="1" dirty="0"/>
              <a:t>2017</a:t>
            </a:r>
            <a:r>
              <a:rPr lang="en-US" altLang="zh-CN" sz="1800" dirty="0"/>
              <a:t> and </a:t>
            </a:r>
            <a:r>
              <a:rPr lang="en-US" altLang="zh-CN" sz="1800" b="1" dirty="0"/>
              <a:t>2019</a:t>
            </a:r>
            <a:r>
              <a:rPr lang="en-US" altLang="zh-C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gap was </a:t>
            </a:r>
            <a:r>
              <a:rPr lang="en-US" altLang="zh-CN" sz="1800" b="1" dirty="0"/>
              <a:t>most obvious in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2019: AP +56.2% </a:t>
            </a:r>
            <a:r>
              <a:rPr lang="en-US" altLang="zh-CN" sz="1800" dirty="0"/>
              <a:t>vs. </a:t>
            </a:r>
            <a:r>
              <a:rPr lang="en-US" altLang="zh-CN" sz="1800" b="1" dirty="0"/>
              <a:t>COGS -27.5%</a:t>
            </a:r>
            <a:r>
              <a:rPr lang="en-US" altLang="zh-C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pattern was </a:t>
            </a:r>
            <a:r>
              <a:rPr lang="en-US" altLang="zh-CN" sz="1800" b="1" dirty="0"/>
              <a:t>not consistently strong</a:t>
            </a:r>
            <a:endParaRPr lang="en-US" altLang="zh-CN" sz="1800" dirty="0"/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AP grew much faster than COGS → </a:t>
            </a:r>
            <a:r>
              <a:rPr lang="en-US" altLang="zh-CN" sz="1800" b="1" dirty="0"/>
              <a:t>abnormal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May indicate inflated purchases recorded through </a:t>
            </a:r>
            <a:r>
              <a:rPr lang="en-US" altLang="zh-CN" sz="1800" b="1" dirty="0"/>
              <a:t>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Part of inflated purchases may be transferred to </a:t>
            </a:r>
            <a:r>
              <a:rPr lang="en-US" altLang="zh-CN" sz="1800" b="1" dirty="0"/>
              <a:t>COGS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Moderate support </a:t>
            </a:r>
            <a:r>
              <a:rPr lang="en-GB" altLang="zh-CN" sz="1800" dirty="0"/>
              <a:t>for the cost-inflating pattern</a:t>
            </a:r>
            <a:endParaRPr lang="en-US" altLang="zh-CN" sz="1800" dirty="0"/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6834FDB-068D-A52B-1BD6-F71A46B854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372906"/>
              </p:ext>
            </p:extLst>
          </p:nvPr>
        </p:nvGraphicFramePr>
        <p:xfrm>
          <a:off x="762530" y="2796110"/>
          <a:ext cx="4822930" cy="2972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65039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3B2D-10B0-B7DB-5B34-C1D7832B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45B05B20-5624-CA79-1568-14A182226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(2). Check the Account Payable Turnover Ratio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07552314-2329-2218-AA2F-38E8214C8070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0C9F5F-370C-6FE7-E080-AB1DDA8E38A9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5AA6E3-2577-C868-8018-9BD7148DBE04}"/>
              </a:ext>
            </a:extLst>
          </p:cNvPr>
          <p:cNvSpPr txBox="1"/>
          <p:nvPr/>
        </p:nvSpPr>
        <p:spPr>
          <a:xfrm flipH="1">
            <a:off x="762530" y="1089563"/>
            <a:ext cx="9454895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Payable Turnover Ratio = Cost of goods sold (COGS) / Average Account Payable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苹方 中等" panose="020B0400000000000000" pitchFamily="34" charset="-122"/>
                <a:cs typeface="Times New Roman" panose="02020603050405020304" pitchFamily="18" charset="0"/>
              </a:rPr>
              <a:t>Average Account Payable = (Previous year + Current year Account Payable) / 2</a:t>
            </a:r>
            <a:endParaRPr lang="zh-CN" altLang="en-US" sz="2000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3689F3-68D3-1DDE-6D4F-4BAF6A9C1B70}"/>
              </a:ext>
            </a:extLst>
          </p:cNvPr>
          <p:cNvSpPr txBox="1"/>
          <p:nvPr/>
        </p:nvSpPr>
        <p:spPr>
          <a:xfrm>
            <a:off x="6096000" y="2139015"/>
            <a:ext cx="5099860" cy="42898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AP turnover ratio fluctuated at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But </a:t>
            </a:r>
            <a:r>
              <a:rPr lang="en-US" altLang="zh-CN" sz="1800" dirty="0"/>
              <a:t>declined clearly in the </a:t>
            </a:r>
            <a:r>
              <a:rPr lang="en-US" altLang="zh-CN" sz="1800" b="1" dirty="0"/>
              <a:t>later fraud period</a:t>
            </a:r>
            <a:endParaRPr lang="en-GB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Indicates faster </a:t>
            </a:r>
            <a:r>
              <a:rPr lang="en-GB" altLang="zh-CN" sz="1800" b="1" dirty="0"/>
              <a:t>AP accumulation </a:t>
            </a:r>
          </a:p>
          <a:p>
            <a:pPr>
              <a:lnSpc>
                <a:spcPct val="100000"/>
              </a:lnSpc>
            </a:pPr>
            <a:endParaRPr lang="en-GB" altLang="zh-CN" sz="1800" b="1" dirty="0"/>
          </a:p>
          <a:p>
            <a:r>
              <a:rPr lang="en-GB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Falling AP turnover ratio → </a:t>
            </a:r>
            <a:r>
              <a:rPr lang="en-GB" altLang="zh-CN" sz="1800" b="1" dirty="0"/>
              <a:t>abnormal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AP accumulated faster than </a:t>
            </a:r>
            <a:r>
              <a:rPr lang="en-GB" altLang="zh-CN" sz="1800" b="1" dirty="0"/>
              <a:t>COGS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May indicate inflated purchases / inflated </a:t>
            </a:r>
            <a:r>
              <a:rPr lang="en-GB" altLang="zh-CN" sz="1800" b="1" dirty="0"/>
              <a:t>COGS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b="1" dirty="0"/>
              <a:t>Limited to moderate support</a:t>
            </a:r>
            <a:endParaRPr lang="en-GB" altLang="zh-CN" sz="1800" dirty="0"/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CEDF9E6-0F11-161F-ECF2-92E15D892E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844080"/>
              </p:ext>
            </p:extLst>
          </p:nvPr>
        </p:nvGraphicFramePr>
        <p:xfrm>
          <a:off x="996140" y="2840913"/>
          <a:ext cx="4571657" cy="2745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4558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2677C-BCA7-13F6-0680-26112AA5D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9791C2FC-8A75-C732-5B8E-E7A2CF023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(1). Growth in Inventory VS. Growth in Sales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6FF8F3E7-6DD9-007B-3646-7B3249B0A977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EAD725-6B42-65A3-2C1B-34911EF6EB49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C13B61-6F81-5CA4-81D1-4D68F2B41970}"/>
              </a:ext>
            </a:extLst>
          </p:cNvPr>
          <p:cNvSpPr txBox="1"/>
          <p:nvPr/>
        </p:nvSpPr>
        <p:spPr>
          <a:xfrm flipH="1">
            <a:off x="762530" y="1089563"/>
            <a:ext cx="9454895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Inventory = (Inventory in year t / Inventory in year t-1) – 1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Sales = (Sales in year t / Sales in year t-1) – 1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34D8BC-17BE-6A39-ACAB-48CF9EDA2DEE}"/>
              </a:ext>
            </a:extLst>
          </p:cNvPr>
          <p:cNvSpPr txBox="1"/>
          <p:nvPr/>
        </p:nvSpPr>
        <p:spPr>
          <a:xfrm>
            <a:off x="5662877" y="2072292"/>
            <a:ext cx="5873803" cy="42898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Inventory growth exceeded Sales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gap became more obvious in the </a:t>
            </a:r>
            <a:r>
              <a:rPr lang="en-US" altLang="zh-CN" sz="1800" b="1" dirty="0"/>
              <a:t>later fraud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Inventory accumulated abnormally during </a:t>
            </a:r>
            <a:r>
              <a:rPr lang="en-US" altLang="zh-CN" sz="1800" b="1" dirty="0"/>
              <a:t>2017-2019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The pattern was </a:t>
            </a:r>
            <a:r>
              <a:rPr lang="en-GB" altLang="zh-CN" sz="1800" b="1" dirty="0"/>
              <a:t>strong</a:t>
            </a:r>
            <a:endParaRPr lang="en-US" altLang="zh-CN" sz="1800" b="1" dirty="0"/>
          </a:p>
          <a:p>
            <a:r>
              <a:rPr lang="en-US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Inventory grew faster than Sales → </a:t>
            </a:r>
            <a:r>
              <a:rPr lang="en-US" altLang="zh-CN" sz="1800" b="1" dirty="0"/>
              <a:t>abnormal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May indicate inflated ending </a:t>
            </a:r>
            <a:r>
              <a:rPr lang="en-US" altLang="zh-CN" sz="1800" b="1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Part of inflated purchases may be transferred to </a:t>
            </a:r>
            <a:r>
              <a:rPr lang="en-US" altLang="zh-CN" sz="1800" b="1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Strong support </a:t>
            </a:r>
            <a:r>
              <a:rPr lang="en-GB" altLang="zh-CN" sz="1800" dirty="0"/>
              <a:t>for the cost-inflating pattern</a:t>
            </a:r>
            <a:r>
              <a:rPr lang="en-US" altLang="zh-CN" sz="1800" dirty="0"/>
              <a:t> 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E7816B8-9EC5-45A8-EDD7-F5B6BC2BF5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0943846"/>
              </p:ext>
            </p:extLst>
          </p:nvPr>
        </p:nvGraphicFramePr>
        <p:xfrm>
          <a:off x="762530" y="2844265"/>
          <a:ext cx="4573459" cy="2745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43109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FD63-2433-ED25-9828-F89A4906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1DDD6B73-7C62-250E-F4E0-F5FFB6C03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502828"/>
            <a:ext cx="980069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(2). Check the Inventory Turnover Ratio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34AE35E-E898-07C2-963A-AB9751C96B68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91559E-FB34-8A5D-17EC-C14578128DB4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798619-4ED6-D41C-1F6A-EDAAE4D3CE48}"/>
              </a:ext>
            </a:extLst>
          </p:cNvPr>
          <p:cNvSpPr txBox="1"/>
          <p:nvPr/>
        </p:nvSpPr>
        <p:spPr>
          <a:xfrm flipH="1">
            <a:off x="762530" y="1089563"/>
            <a:ext cx="9454895" cy="960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Turnover Ratio = Cost of goods sold (COGS) / Average Inventory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Inventory = (Previous year + Current year Inventory) / 2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苹方 中等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0D1387-6BE6-996F-8A8D-3526F7D336A5}"/>
              </a:ext>
            </a:extLst>
          </p:cNvPr>
          <p:cNvSpPr txBox="1"/>
          <p:nvPr/>
        </p:nvSpPr>
        <p:spPr>
          <a:xfrm>
            <a:off x="6236738" y="2072292"/>
            <a:ext cx="4727448" cy="42898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altLang="zh-CN" b="1" dirty="0"/>
              <a:t>Figure description: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Inventory turnover ratio kept </a:t>
            </a:r>
            <a:r>
              <a:rPr lang="en-US" altLang="zh-CN" sz="1800" dirty="0"/>
              <a:t>declining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/>
              <a:t>2017-2019:</a:t>
            </a:r>
            <a:r>
              <a:rPr lang="zh-CN" altLang="en-US" sz="1800" dirty="0"/>
              <a:t> </a:t>
            </a:r>
            <a:r>
              <a:rPr lang="en-US" altLang="zh-CN" sz="1800" b="1" dirty="0"/>
              <a:t>2.56 → 1.60</a:t>
            </a:r>
            <a:endParaRPr lang="en-GB" altLang="zh-C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decline became more obvious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Indicates abnormal inventory accumulation </a:t>
            </a:r>
          </a:p>
          <a:p>
            <a:r>
              <a:rPr lang="en-GB" altLang="zh-CN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dirty="0"/>
              <a:t>Falling inventory turnover → </a:t>
            </a:r>
            <a:r>
              <a:rPr lang="en-GB" altLang="zh-CN" sz="1800" b="1" dirty="0"/>
              <a:t>abnormal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Inventory accumulated faster than </a:t>
            </a:r>
            <a:r>
              <a:rPr lang="en-US" altLang="zh-CN" sz="1800" b="1" dirty="0"/>
              <a:t>COGS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May indicate inflated ending </a:t>
            </a:r>
            <a:r>
              <a:rPr lang="en-US" altLang="zh-CN" sz="1800" b="1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800" b="1" dirty="0"/>
              <a:t>Strong support </a:t>
            </a:r>
            <a:r>
              <a:rPr lang="en-GB" altLang="zh-CN" sz="1800" dirty="0"/>
              <a:t>for the cost-inflating pattern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FE4FFD9-3F7F-4030-1F84-3437109591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0169764"/>
              </p:ext>
            </p:extLst>
          </p:nvPr>
        </p:nvGraphicFramePr>
        <p:xfrm>
          <a:off x="1090362" y="2844265"/>
          <a:ext cx="4572515" cy="2745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3587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832C-FC4D-6227-EF41-58D81D2F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2F4ED6F6-A58B-5518-9833-D3A608525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255316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altLang="zh-CN" sz="32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2E302930-F11E-1944-053B-DAC92ADD7269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2FA6D4-7831-A704-8229-A493EEFBAF46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2FC7EE-8876-0E8A-FAA5-5697F9FD8C13}"/>
              </a:ext>
            </a:extLst>
          </p:cNvPr>
          <p:cNvSpPr txBox="1"/>
          <p:nvPr/>
        </p:nvSpPr>
        <p:spPr>
          <a:xfrm flipH="1">
            <a:off x="762532" y="1873866"/>
            <a:ext cx="10615786" cy="5799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cost-inflating fraud pattern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09CFA4E-3D0D-8350-72B4-590583821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1" y="2784045"/>
            <a:ext cx="5897350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 growth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abnormal 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 turnover ratio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weak but declining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growth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abnormal 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turnover ratio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declined significantly</a:t>
            </a:r>
          </a:p>
        </p:txBody>
      </p:sp>
    </p:spTree>
    <p:extLst>
      <p:ext uri="{BB962C8B-B14F-4D97-AF65-F5344CB8AC3E}">
        <p14:creationId xmlns:p14="http://schemas.microsoft.com/office/powerpoint/2010/main" val="3534634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237A-5968-8F3D-7AA8-19AE4456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V 形 35">
            <a:extLst>
              <a:ext uri="{FF2B5EF4-FFF2-40B4-BE49-F238E27FC236}">
                <a16:creationId xmlns:a16="http://schemas.microsoft.com/office/drawing/2014/main" id="{7396EBF3-74E5-C4A5-C408-A1BC7FDD00CA}"/>
              </a:ext>
            </a:extLst>
          </p:cNvPr>
          <p:cNvSpPr/>
          <p:nvPr/>
        </p:nvSpPr>
        <p:spPr>
          <a:xfrm>
            <a:off x="368834" y="0"/>
            <a:ext cx="8028000" cy="5976000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9" r="-3363"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F6D8AFB4-83C1-AD4F-F369-930302806689}"/>
              </a:ext>
            </a:extLst>
          </p:cNvPr>
          <p:cNvCxnSpPr>
            <a:cxnSpLocks/>
          </p:cNvCxnSpPr>
          <p:nvPr/>
        </p:nvCxnSpPr>
        <p:spPr>
          <a:xfrm flipH="1">
            <a:off x="4374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8D1F37CE-DCCC-5C93-A663-4FBD4D0264CE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菱形 10">
            <a:extLst>
              <a:ext uri="{FF2B5EF4-FFF2-40B4-BE49-F238E27FC236}">
                <a16:creationId xmlns:a16="http://schemas.microsoft.com/office/drawing/2014/main" id="{37BFAA22-86D0-DE7C-750F-8FAABC5CF3FD}"/>
              </a:ext>
            </a:extLst>
          </p:cNvPr>
          <p:cNvSpPr/>
          <p:nvPr/>
        </p:nvSpPr>
        <p:spPr>
          <a:xfrm>
            <a:off x="3259682" y="3812660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044452-C008-7B5A-9E93-47EB1B2D20FA}"/>
              </a:ext>
            </a:extLst>
          </p:cNvPr>
          <p:cNvSpPr/>
          <p:nvPr/>
        </p:nvSpPr>
        <p:spPr>
          <a:xfrm flipH="1">
            <a:off x="571239" y="4087704"/>
            <a:ext cx="2783338" cy="720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rPr>
              <a:t>PART 05</a:t>
            </a:r>
            <a:endParaRPr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ea typeface="方正悠黑_GB18030_中" panose="02000000000000000000" pitchFamily="2" charset="-122"/>
              <a:cs typeface="Times New Roman" panose="02020603050405020304" pitchFamily="18" charset="0"/>
              <a:sym typeface="字魂105号-简雅黑" panose="00000500000000000000" pitchFamily="2" charset="-122"/>
            </a:endParaRPr>
          </a:p>
        </p:txBody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79D1B63A-7116-F0E0-FD68-EF07FD395CC5}"/>
              </a:ext>
            </a:extLst>
          </p:cNvPr>
          <p:cNvSpPr/>
          <p:nvPr/>
        </p:nvSpPr>
        <p:spPr>
          <a:xfrm>
            <a:off x="5649249" y="-540035"/>
            <a:ext cx="2406528" cy="2406528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64E8ACE-99EF-E47A-E9AC-7FD492CF80CA}"/>
              </a:ext>
            </a:extLst>
          </p:cNvPr>
          <p:cNvGrpSpPr/>
          <p:nvPr/>
        </p:nvGrpSpPr>
        <p:grpSpPr>
          <a:xfrm>
            <a:off x="4815520" y="4127673"/>
            <a:ext cx="7436726" cy="1074917"/>
            <a:chOff x="5183724" y="4100449"/>
            <a:chExt cx="7436726" cy="1074917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4F6813-D2A4-27CB-1F15-031B3126C47B}"/>
                </a:ext>
              </a:extLst>
            </p:cNvPr>
            <p:cNvSpPr txBox="1"/>
            <p:nvPr/>
          </p:nvSpPr>
          <p:spPr>
            <a:xfrm>
              <a:off x="5183724" y="4781027"/>
              <a:ext cx="7436726" cy="39433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华文细黑" pitchFamily="2" charset="-122"/>
                  <a:cs typeface="Times New Roman" panose="02020603050405020304" pitchFamily="18" charset="0"/>
                  <a:sym typeface="微软雅黑"/>
                </a:rPr>
                <a:t>This section presents the fraud mechanisms, final assessment, and reference sources.</a:t>
              </a: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44663FCA-DEB3-F56A-DA29-C9ABE6A13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121" y="4100449"/>
              <a:ext cx="7171349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Flow Charts, Conclusion, and References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AD329BB-150A-A22A-D9CF-4FC985471B42}"/>
                </a:ext>
              </a:extLst>
            </p:cNvPr>
            <p:cNvCxnSpPr>
              <a:cxnSpLocks/>
            </p:cNvCxnSpPr>
            <p:nvPr/>
          </p:nvCxnSpPr>
          <p:spPr>
            <a:xfrm>
              <a:off x="5204177" y="4713205"/>
              <a:ext cx="721929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58FA2EAC-3291-A022-4E8D-7BC73AB3D765}"/>
              </a:ext>
            </a:extLst>
          </p:cNvPr>
          <p:cNvSpPr/>
          <p:nvPr/>
        </p:nvSpPr>
        <p:spPr>
          <a:xfrm flipH="1">
            <a:off x="11292114" y="5965371"/>
            <a:ext cx="899886" cy="899886"/>
          </a:xfrm>
          <a:prstGeom prst="rt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D6D547-1F54-78B4-9CD9-9BF120A3187F}"/>
              </a:ext>
            </a:extLst>
          </p:cNvPr>
          <p:cNvSpPr/>
          <p:nvPr/>
        </p:nvSpPr>
        <p:spPr>
          <a:xfrm rot="2706019">
            <a:off x="870246" y="3353853"/>
            <a:ext cx="2185324" cy="218916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D425627-EBC0-7172-8C21-946941562E4E}"/>
              </a:ext>
            </a:extLst>
          </p:cNvPr>
          <p:cNvGrpSpPr/>
          <p:nvPr/>
        </p:nvGrpSpPr>
        <p:grpSpPr>
          <a:xfrm>
            <a:off x="95052" y="2736415"/>
            <a:ext cx="3524181" cy="3440069"/>
            <a:chOff x="10681" y="2494998"/>
            <a:chExt cx="3905802" cy="3905802"/>
          </a:xfrm>
        </p:grpSpPr>
        <p:sp>
          <p:nvSpPr>
            <p:cNvPr id="10" name="菱形 9">
              <a:extLst>
                <a:ext uri="{FF2B5EF4-FFF2-40B4-BE49-F238E27FC236}">
                  <a16:creationId xmlns:a16="http://schemas.microsoft.com/office/drawing/2014/main" id="{D432B0C1-EE33-8406-104A-14620D1214B3}"/>
                </a:ext>
              </a:extLst>
            </p:cNvPr>
            <p:cNvSpPr/>
            <p:nvPr/>
          </p:nvSpPr>
          <p:spPr>
            <a:xfrm>
              <a:off x="10681" y="2494998"/>
              <a:ext cx="3905802" cy="3905802"/>
            </a:xfrm>
            <a:prstGeom prst="diamond">
              <a:avLst/>
            </a:prstGeom>
            <a:solidFill>
              <a:srgbClr val="3658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5BF357F-E695-113D-8D22-C274C05AE5D6}"/>
                </a:ext>
              </a:extLst>
            </p:cNvPr>
            <p:cNvSpPr/>
            <p:nvPr/>
          </p:nvSpPr>
          <p:spPr>
            <a:xfrm flipH="1">
              <a:off x="571238" y="4074611"/>
              <a:ext cx="2783338" cy="7465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方正悠黑_GB18030_中" panose="02000000000000000000" pitchFamily="2" charset="-122"/>
                  <a:cs typeface="Times New Roman" panose="02020603050405020304" pitchFamily="18" charset="0"/>
                  <a:sym typeface="字魂105号-简雅黑" panose="00000500000000000000" pitchFamily="2" charset="-122"/>
                </a:rPr>
                <a:t>PART 05</a:t>
              </a:r>
              <a:endPara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方正悠黑_GB18030_中" panose="02000000000000000000" pitchFamily="2" charset="-122"/>
                <a:cs typeface="Times New Roman" panose="02020603050405020304" pitchFamily="18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E5CFC88-C3B5-7E7C-358D-E33525B76A0C}"/>
                </a:ext>
              </a:extLst>
            </p:cNvPr>
            <p:cNvSpPr/>
            <p:nvPr/>
          </p:nvSpPr>
          <p:spPr>
            <a:xfrm rot="2706019">
              <a:off x="870246" y="3353853"/>
              <a:ext cx="2185324" cy="2189164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4973339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17B2-84E4-6F22-A9C7-10D10D2E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CDBCA6DC-79C4-44A4-1D5F-564B5942B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95900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 Simple Fraud Pattern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CFBB78FE-6312-F431-CF72-C99BD5DB4508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B1C711-B76B-9F22-8B75-DBAFA2824BBE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86BAC3-D555-64D5-AE4B-660894F1A614}"/>
              </a:ext>
            </a:extLst>
          </p:cNvPr>
          <p:cNvSpPr txBox="1"/>
          <p:nvPr/>
        </p:nvSpPr>
        <p:spPr>
          <a:xfrm>
            <a:off x="762532" y="1305994"/>
            <a:ext cx="4999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illustration from lecture slides: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FE0E93C-CBB2-5BD8-2851-BFD175773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0" b="16359"/>
          <a:stretch>
            <a:fillRect/>
          </a:stretch>
        </p:blipFill>
        <p:spPr>
          <a:xfrm>
            <a:off x="3118027" y="2146963"/>
            <a:ext cx="5955946" cy="37560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4194EDD7-C6D0-B136-3EBE-B729B97BC96D}"/>
              </a:ext>
            </a:extLst>
          </p:cNvPr>
          <p:cNvSpPr/>
          <p:nvPr/>
        </p:nvSpPr>
        <p:spPr>
          <a:xfrm>
            <a:off x="10306050" y="3719513"/>
            <a:ext cx="962025" cy="442912"/>
          </a:xfrm>
          <a:prstGeom prst="rightArrow">
            <a:avLst/>
          </a:prstGeom>
          <a:solidFill>
            <a:srgbClr val="3C63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89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AEE8-853A-9E9F-DFD4-D206297E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E23CCE1-3E11-14C9-DAB5-B085E13835FB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671217-2D60-5BB2-A6B9-1019B7B1062B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9377104-D0C9-6626-F146-62866F3B2B85}"/>
              </a:ext>
            </a:extLst>
          </p:cNvPr>
          <p:cNvSpPr/>
          <p:nvPr/>
        </p:nvSpPr>
        <p:spPr>
          <a:xfrm>
            <a:off x="2420821" y="2469650"/>
            <a:ext cx="1916204" cy="71183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Firm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739CC72-1994-7F5B-790B-80368EE84DD9}"/>
              </a:ext>
            </a:extLst>
          </p:cNvPr>
          <p:cNvSpPr/>
          <p:nvPr/>
        </p:nvSpPr>
        <p:spPr>
          <a:xfrm>
            <a:off x="7237756" y="2469650"/>
            <a:ext cx="1916204" cy="71183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Fictitious Customer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0C00DE9-ADA7-98DE-141B-56E5CDFF9C68}"/>
              </a:ext>
            </a:extLst>
          </p:cNvPr>
          <p:cNvSpPr/>
          <p:nvPr/>
        </p:nvSpPr>
        <p:spPr>
          <a:xfrm>
            <a:off x="4358552" y="4672928"/>
            <a:ext cx="2857674" cy="879078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Accounts Receivable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b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Cr. Revenue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zh-CN" altLang="en-US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B58FEF-89BF-5DD2-6442-A89C7D7607EB}"/>
              </a:ext>
            </a:extLst>
          </p:cNvPr>
          <p:cNvSpPr txBox="1"/>
          <p:nvPr/>
        </p:nvSpPr>
        <p:spPr>
          <a:xfrm>
            <a:off x="4545698" y="2282802"/>
            <a:ext cx="248338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Fictitious Sales Contract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8E97CC-B4F9-2A8E-38AE-624A3A2A6D9B}"/>
              </a:ext>
            </a:extLst>
          </p:cNvPr>
          <p:cNvSpPr txBox="1"/>
          <p:nvPr/>
        </p:nvSpPr>
        <p:spPr>
          <a:xfrm>
            <a:off x="4107180" y="3522236"/>
            <a:ext cx="3360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corresponding cash collection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318374F-000C-772F-9426-0006AE820CF8}"/>
              </a:ext>
            </a:extLst>
          </p:cNvPr>
          <p:cNvCxnSpPr/>
          <p:nvPr/>
        </p:nvCxnSpPr>
        <p:spPr>
          <a:xfrm>
            <a:off x="4516643" y="2825565"/>
            <a:ext cx="254149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8138762-3643-E5E4-98B3-7C05E48595BD}"/>
              </a:ext>
            </a:extLst>
          </p:cNvPr>
          <p:cNvCxnSpPr>
            <a:cxnSpLocks/>
          </p:cNvCxnSpPr>
          <p:nvPr/>
        </p:nvCxnSpPr>
        <p:spPr>
          <a:xfrm>
            <a:off x="5787389" y="2973829"/>
            <a:ext cx="1" cy="5179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39C433B-24A2-7936-5F77-F516D875E32C}"/>
              </a:ext>
            </a:extLst>
          </p:cNvPr>
          <p:cNvCxnSpPr>
            <a:cxnSpLocks/>
          </p:cNvCxnSpPr>
          <p:nvPr/>
        </p:nvCxnSpPr>
        <p:spPr>
          <a:xfrm>
            <a:off x="5787389" y="3955424"/>
            <a:ext cx="0" cy="5951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1B53ABF-CCA3-156A-8F28-CB97DA255E04}"/>
              </a:ext>
            </a:extLst>
          </p:cNvPr>
          <p:cNvSpPr txBox="1"/>
          <p:nvPr/>
        </p:nvSpPr>
        <p:spPr>
          <a:xfrm>
            <a:off x="762532" y="1305994"/>
            <a:ext cx="3344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mechanism: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B549BE3-B390-C80F-BFA7-9D1A21340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95900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 Simple Fraud Pattern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871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A1AD-705C-118C-D8E5-2A0F2D17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A30B055B-2E3F-25F8-1FEF-9B041DC77FEB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06C89B-74AB-F452-1840-617D8E0E5B2B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64597E-8B95-DAB1-F65B-8CB47A54FB4E}"/>
              </a:ext>
            </a:extLst>
          </p:cNvPr>
          <p:cNvSpPr txBox="1"/>
          <p:nvPr/>
        </p:nvSpPr>
        <p:spPr>
          <a:xfrm>
            <a:off x="762532" y="1305994"/>
            <a:ext cx="4999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illustration from lecture slides: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0CE2081-B991-9834-D40E-6E2A6CDC2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074" r="-1374" b="11694"/>
          <a:stretch>
            <a:fillRect/>
          </a:stretch>
        </p:blipFill>
        <p:spPr>
          <a:xfrm>
            <a:off x="2759591" y="2314195"/>
            <a:ext cx="6672817" cy="334831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AF7B2C1A-CF6F-E232-8474-2098C1FB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95900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 Complex Fraud Pattern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485B5834-F0B0-7586-A486-4E9AA51B8221}"/>
              </a:ext>
            </a:extLst>
          </p:cNvPr>
          <p:cNvSpPr/>
          <p:nvPr/>
        </p:nvSpPr>
        <p:spPr>
          <a:xfrm>
            <a:off x="10306050" y="3719513"/>
            <a:ext cx="962025" cy="442912"/>
          </a:xfrm>
          <a:prstGeom prst="rightArrow">
            <a:avLst/>
          </a:prstGeom>
          <a:solidFill>
            <a:srgbClr val="3C63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65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EF2B-ABB0-2DB9-5394-38852421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45478FC9-B840-5C1A-5F03-26C42D019D3F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E616FE-F2ED-54A9-0F3F-66F97CDB0A2D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CDA9546-DBAC-A9E3-143A-E48581773A63}"/>
              </a:ext>
            </a:extLst>
          </p:cNvPr>
          <p:cNvSpPr/>
          <p:nvPr/>
        </p:nvSpPr>
        <p:spPr>
          <a:xfrm>
            <a:off x="4663627" y="1930994"/>
            <a:ext cx="1757396" cy="5917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Firm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03F5808-5F91-FD1C-E53B-3D1C51C7DE8F}"/>
              </a:ext>
            </a:extLst>
          </p:cNvPr>
          <p:cNvSpPr/>
          <p:nvPr/>
        </p:nvSpPr>
        <p:spPr>
          <a:xfrm>
            <a:off x="7534699" y="4940147"/>
            <a:ext cx="1610769" cy="80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Fictitious Company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BCFB574-0D57-8E3F-B2AE-CDD655353733}"/>
              </a:ext>
            </a:extLst>
          </p:cNvPr>
          <p:cNvSpPr/>
          <p:nvPr/>
        </p:nvSpPr>
        <p:spPr>
          <a:xfrm>
            <a:off x="7377542" y="3073084"/>
            <a:ext cx="3717177" cy="735273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Other Receivable / Prepayment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</a:p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Cr. Cash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zh-CN" altLang="en-US" sz="1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893F48-DB40-FCC1-DC9A-D88D4B8EB172}"/>
              </a:ext>
            </a:extLst>
          </p:cNvPr>
          <p:cNvSpPr txBox="1"/>
          <p:nvPr/>
        </p:nvSpPr>
        <p:spPr>
          <a:xfrm rot="3160767">
            <a:off x="5480490" y="3423513"/>
            <a:ext cx="285344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Cash transferred out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B50EFD1-90B7-2B2C-A305-EBAA424C6EB3}"/>
              </a:ext>
            </a:extLst>
          </p:cNvPr>
          <p:cNvCxnSpPr>
            <a:cxnSpLocks/>
          </p:cNvCxnSpPr>
          <p:nvPr/>
        </p:nvCxnSpPr>
        <p:spPr>
          <a:xfrm>
            <a:off x="5722700" y="2720464"/>
            <a:ext cx="1765223" cy="22751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8F3AC014-556E-0BEB-2763-A26F81604936}"/>
              </a:ext>
            </a:extLst>
          </p:cNvPr>
          <p:cNvSpPr/>
          <p:nvPr/>
        </p:nvSpPr>
        <p:spPr>
          <a:xfrm>
            <a:off x="1939183" y="4869927"/>
            <a:ext cx="1610769" cy="805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Fictitious Customer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D791FF-3096-B314-20B5-460C6A7C1BA5}"/>
              </a:ext>
            </a:extLst>
          </p:cNvPr>
          <p:cNvSpPr txBox="1"/>
          <p:nvPr/>
        </p:nvSpPr>
        <p:spPr>
          <a:xfrm>
            <a:off x="3549952" y="5267406"/>
            <a:ext cx="409728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GB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routed through a third party</a:t>
            </a:r>
            <a:endParaRPr lang="en-GB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1BE0E6-A8E7-9F55-BDA1-7D34A00C49D5}"/>
              </a:ext>
            </a:extLst>
          </p:cNvPr>
          <p:cNvSpPr txBox="1"/>
          <p:nvPr/>
        </p:nvSpPr>
        <p:spPr>
          <a:xfrm rot="18398137">
            <a:off x="2700272" y="3348479"/>
            <a:ext cx="290686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Cash returns as sales</a:t>
            </a:r>
            <a:endParaRPr lang="en-GB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47DA562-AF85-BB6F-50D9-222D64B9C1D4}"/>
              </a:ext>
            </a:extLst>
          </p:cNvPr>
          <p:cNvCxnSpPr>
            <a:cxnSpLocks/>
          </p:cNvCxnSpPr>
          <p:nvPr/>
        </p:nvCxnSpPr>
        <p:spPr>
          <a:xfrm flipV="1">
            <a:off x="3635571" y="2631605"/>
            <a:ext cx="1655292" cy="22604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C1F319B-04F8-9A20-9DE9-B0906A509382}"/>
              </a:ext>
            </a:extLst>
          </p:cNvPr>
          <p:cNvCxnSpPr>
            <a:cxnSpLocks/>
          </p:cNvCxnSpPr>
          <p:nvPr/>
        </p:nvCxnSpPr>
        <p:spPr>
          <a:xfrm flipH="1">
            <a:off x="3673221" y="5287569"/>
            <a:ext cx="369024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2F2A130-0C4C-9786-3C27-B853FD0F2398}"/>
              </a:ext>
            </a:extLst>
          </p:cNvPr>
          <p:cNvSpPr/>
          <p:nvPr/>
        </p:nvSpPr>
        <p:spPr>
          <a:xfrm>
            <a:off x="2012622" y="3073084"/>
            <a:ext cx="1610768" cy="711831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Cash 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altLang="zh-CN" sz="1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Cr. Revenue 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zh-CN" altLang="en-US" sz="1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3D7DD959-2DF6-B343-78BC-53AC003A5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95900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 Complex Fraud Pattern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59E2F2-9505-19B9-5808-F19F4CD4BE8D}"/>
              </a:ext>
            </a:extLst>
          </p:cNvPr>
          <p:cNvSpPr txBox="1"/>
          <p:nvPr/>
        </p:nvSpPr>
        <p:spPr>
          <a:xfrm>
            <a:off x="762532" y="1305994"/>
            <a:ext cx="3344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mechanism: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667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4738-69DB-65E0-C9C8-5680CD6B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BD8861CD-97A5-C1E3-FD59-1E22DC3B0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95900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 Cost-Inflating Fraud Pattern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D6F14B76-3093-D6C8-417A-C2485B9F8A49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8FC540-DE13-E5E8-B644-816B19C8A9DB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802517-E2F7-49D4-41A4-AEF2689C5028}"/>
              </a:ext>
            </a:extLst>
          </p:cNvPr>
          <p:cNvSpPr txBox="1"/>
          <p:nvPr/>
        </p:nvSpPr>
        <p:spPr>
          <a:xfrm>
            <a:off x="762532" y="1305994"/>
            <a:ext cx="4999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illustration from lecture slides: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53A2EB3-1C78-52B0-D681-5F5460362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10080" r="9157" b="11635"/>
          <a:stretch>
            <a:fillRect/>
          </a:stretch>
        </p:blipFill>
        <p:spPr>
          <a:xfrm>
            <a:off x="3094703" y="1997087"/>
            <a:ext cx="6002594" cy="407849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E178E065-B0B2-D93F-31FD-7627217C1CB6}"/>
              </a:ext>
            </a:extLst>
          </p:cNvPr>
          <p:cNvSpPr/>
          <p:nvPr/>
        </p:nvSpPr>
        <p:spPr>
          <a:xfrm>
            <a:off x="10306050" y="3719513"/>
            <a:ext cx="962025" cy="442912"/>
          </a:xfrm>
          <a:prstGeom prst="rightArrow">
            <a:avLst/>
          </a:prstGeom>
          <a:solidFill>
            <a:srgbClr val="3C63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82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30E89-B4C4-8329-FA8D-DE5E4A32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E2524EDE-AF8A-13B0-CDF5-2A51F77BF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95900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 Cost-Inflating Fraud Pattern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622C548-F9DF-CACD-2E87-72A70BDFE162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6AD547-E9B8-C474-01E4-C199B7BDFD30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F1AFC-6D03-F039-2F84-05F141E618A6}"/>
              </a:ext>
            </a:extLst>
          </p:cNvPr>
          <p:cNvSpPr/>
          <p:nvPr/>
        </p:nvSpPr>
        <p:spPr>
          <a:xfrm>
            <a:off x="8427505" y="3220485"/>
            <a:ext cx="2461398" cy="8464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3: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Deflate ending inventory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5C660CE-6FFE-7753-628F-9BAF9BC4C020}"/>
              </a:ext>
            </a:extLst>
          </p:cNvPr>
          <p:cNvSpPr/>
          <p:nvPr/>
        </p:nvSpPr>
        <p:spPr>
          <a:xfrm>
            <a:off x="2090504" y="5417496"/>
            <a:ext cx="1239684" cy="500212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altLang="zh-CN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A6AEB91-6910-8605-F562-BA2355C58B5E}"/>
              </a:ext>
            </a:extLst>
          </p:cNvPr>
          <p:cNvSpPr txBox="1"/>
          <p:nvPr/>
        </p:nvSpPr>
        <p:spPr>
          <a:xfrm>
            <a:off x="762532" y="1305994"/>
            <a:ext cx="3001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mechanism: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FEE8667-B1CD-A39E-6A95-1470E31B0E02}"/>
              </a:ext>
            </a:extLst>
          </p:cNvPr>
          <p:cNvSpPr/>
          <p:nvPr/>
        </p:nvSpPr>
        <p:spPr>
          <a:xfrm>
            <a:off x="1655459" y="3220485"/>
            <a:ext cx="2213534" cy="85188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1: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Inflate purchase only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3C1B39-70E0-8616-F1F7-3363214336B4}"/>
              </a:ext>
            </a:extLst>
          </p:cNvPr>
          <p:cNvSpPr txBox="1"/>
          <p:nvPr/>
        </p:nvSpPr>
        <p:spPr>
          <a:xfrm>
            <a:off x="1625702" y="4536901"/>
            <a:ext cx="2169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of Inventory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41054D9-EF2C-B619-9C44-F03270B9AC63}"/>
              </a:ext>
            </a:extLst>
          </p:cNvPr>
          <p:cNvSpPr/>
          <p:nvPr/>
        </p:nvSpPr>
        <p:spPr>
          <a:xfrm>
            <a:off x="4865300" y="3107207"/>
            <a:ext cx="2461398" cy="106852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2: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Inflate purchase and ending inventory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18F4314-679D-F998-F145-49B4657DE0CD}"/>
              </a:ext>
            </a:extLst>
          </p:cNvPr>
          <p:cNvSpPr/>
          <p:nvPr/>
        </p:nvSpPr>
        <p:spPr>
          <a:xfrm>
            <a:off x="4245458" y="5413078"/>
            <a:ext cx="1239684" cy="500212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altLang="zh-CN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FB4EAF7-9DBA-9409-1DF0-5A2806ADFD38}"/>
              </a:ext>
            </a:extLst>
          </p:cNvPr>
          <p:cNvSpPr/>
          <p:nvPr/>
        </p:nvSpPr>
        <p:spPr>
          <a:xfrm>
            <a:off x="9112914" y="5454305"/>
            <a:ext cx="1239684" cy="500212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COGS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altLang="zh-CN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FDB04FE-F849-7DE7-8875-F35E55A05777}"/>
              </a:ext>
            </a:extLst>
          </p:cNvPr>
          <p:cNvCxnSpPr>
            <a:cxnSpLocks/>
          </p:cNvCxnSpPr>
          <p:nvPr/>
        </p:nvCxnSpPr>
        <p:spPr>
          <a:xfrm>
            <a:off x="2710346" y="4150346"/>
            <a:ext cx="0" cy="3282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11EE35C-B811-36F0-F982-9728D004FFE3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2710346" y="4906233"/>
            <a:ext cx="0" cy="3909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C962C78-B5D0-DDBA-EB95-0498E517C411}"/>
              </a:ext>
            </a:extLst>
          </p:cNvPr>
          <p:cNvCxnSpPr>
            <a:cxnSpLocks/>
          </p:cNvCxnSpPr>
          <p:nvPr/>
        </p:nvCxnSpPr>
        <p:spPr>
          <a:xfrm>
            <a:off x="6098501" y="2561304"/>
            <a:ext cx="0" cy="462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3C54F6E-5935-C364-A8BF-0A8D25A6533F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5416345" y="4942087"/>
            <a:ext cx="677155" cy="403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6581197-5F3D-FE4A-EBE1-4BBE76EB0A46}"/>
              </a:ext>
            </a:extLst>
          </p:cNvPr>
          <p:cNvSpPr/>
          <p:nvPr/>
        </p:nvSpPr>
        <p:spPr>
          <a:xfrm>
            <a:off x="1499419" y="2050382"/>
            <a:ext cx="9193161" cy="40011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Equation: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Inventory + Purchase of Inventory = COGS + Ending Inventory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7C66E8D-301D-1694-0847-04003FA3E7F9}"/>
              </a:ext>
            </a:extLst>
          </p:cNvPr>
          <p:cNvCxnSpPr>
            <a:cxnSpLocks/>
          </p:cNvCxnSpPr>
          <p:nvPr/>
        </p:nvCxnSpPr>
        <p:spPr>
          <a:xfrm flipH="1">
            <a:off x="3764493" y="2561304"/>
            <a:ext cx="2329007" cy="81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2EA46A7-78DC-41FB-ABC6-DAA38C0C6B71}"/>
              </a:ext>
            </a:extLst>
          </p:cNvPr>
          <p:cNvCxnSpPr>
            <a:cxnSpLocks/>
          </p:cNvCxnSpPr>
          <p:nvPr/>
        </p:nvCxnSpPr>
        <p:spPr>
          <a:xfrm>
            <a:off x="6103504" y="2561304"/>
            <a:ext cx="2401399" cy="8309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EF1D5D5-460E-7781-7711-76047D9537C7}"/>
              </a:ext>
            </a:extLst>
          </p:cNvPr>
          <p:cNvSpPr txBox="1"/>
          <p:nvPr/>
        </p:nvSpPr>
        <p:spPr>
          <a:xfrm>
            <a:off x="8745798" y="4536901"/>
            <a:ext cx="1841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Ending Inventory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FB8C62E-96EA-64B6-D7D2-AEF6F809EEAC}"/>
              </a:ext>
            </a:extLst>
          </p:cNvPr>
          <p:cNvCxnSpPr>
            <a:cxnSpLocks/>
          </p:cNvCxnSpPr>
          <p:nvPr/>
        </p:nvCxnSpPr>
        <p:spPr>
          <a:xfrm>
            <a:off x="9666669" y="4184999"/>
            <a:ext cx="0" cy="3282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ABED0E1-CE58-401F-D3D3-BB240D1EF6EE}"/>
              </a:ext>
            </a:extLst>
          </p:cNvPr>
          <p:cNvCxnSpPr>
            <a:cxnSpLocks/>
          </p:cNvCxnSpPr>
          <p:nvPr/>
        </p:nvCxnSpPr>
        <p:spPr>
          <a:xfrm>
            <a:off x="9666669" y="4923613"/>
            <a:ext cx="1" cy="4217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D6B314F-3255-230D-0F52-40F55E4AF648}"/>
              </a:ext>
            </a:extLst>
          </p:cNvPr>
          <p:cNvSpPr/>
          <p:nvPr/>
        </p:nvSpPr>
        <p:spPr>
          <a:xfrm>
            <a:off x="5873316" y="5417496"/>
            <a:ext cx="2169287" cy="500212"/>
          </a:xfrm>
          <a:prstGeom prst="roundRect">
            <a:avLst/>
          </a:prstGeom>
          <a:solidFill>
            <a:srgbClr val="E2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Ending Inventory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altLang="zh-CN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53374D9-2F9B-8CED-3A8B-15CE9802BB14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6093500" y="4942087"/>
            <a:ext cx="721515" cy="403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06C0E39-5D80-CC4F-C21A-C5E63E7FE2E8}"/>
              </a:ext>
            </a:extLst>
          </p:cNvPr>
          <p:cNvSpPr txBox="1"/>
          <p:nvPr/>
        </p:nvSpPr>
        <p:spPr>
          <a:xfrm>
            <a:off x="5008856" y="4572755"/>
            <a:ext cx="2169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of Inventory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AEC49C3-DE98-587C-4C4F-228E5B87ACB5}"/>
              </a:ext>
            </a:extLst>
          </p:cNvPr>
          <p:cNvCxnSpPr>
            <a:cxnSpLocks/>
          </p:cNvCxnSpPr>
          <p:nvPr/>
        </p:nvCxnSpPr>
        <p:spPr>
          <a:xfrm>
            <a:off x="6093500" y="4267860"/>
            <a:ext cx="0" cy="2663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592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5B7C0-4FCA-6663-975C-2410EF72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E91AF4EC-DEAF-CC3E-10D8-20E177E9F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3" y="480337"/>
            <a:ext cx="567636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Assessment of Fraud Patterns</a:t>
            </a:r>
            <a:endParaRPr lang="en-GB" altLang="zh-C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B57B24A5-F42C-C436-2B96-30E1ECA3CFCB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682238-7499-8AEA-679A-0D4D178D0292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B21EC42-DFCF-9786-0E4B-BA55DD506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3" y="2044743"/>
            <a:ext cx="10223052" cy="276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pattern → clearly supported </a:t>
            </a:r>
          </a:p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pattern → supported, with stronger evidence from Other Receivable </a:t>
            </a:r>
          </a:p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Cost-inflating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 → supported, with stronger evidence from Inventory-related indicators </a:t>
            </a:r>
          </a:p>
          <a:p>
            <a:pPr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→ Xinyan shows a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multiple fraud patterns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2017-2019 </a:t>
            </a:r>
          </a:p>
        </p:txBody>
      </p:sp>
    </p:spTree>
    <p:extLst>
      <p:ext uri="{BB962C8B-B14F-4D97-AF65-F5344CB8AC3E}">
        <p14:creationId xmlns:p14="http://schemas.microsoft.com/office/powerpoint/2010/main" val="910283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DE2EA-FB4A-3822-EF87-2A5E9B3E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FC508A4B-1208-6E4F-E728-9A4F0027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32" y="502828"/>
            <a:ext cx="433057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altLang="zh-CN" sz="32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9D0C42F7-6FEE-7A82-77C8-7F68B9C8463E}"/>
              </a:ext>
            </a:extLst>
          </p:cNvPr>
          <p:cNvSpPr/>
          <p:nvPr/>
        </p:nvSpPr>
        <p:spPr>
          <a:xfrm rot="5400000">
            <a:off x="-138222" y="478190"/>
            <a:ext cx="749595" cy="473151"/>
          </a:xfrm>
          <a:prstGeom prst="triangle">
            <a:avLst/>
          </a:prstGeom>
          <a:solidFill>
            <a:srgbClr val="365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73B93A-10A4-5523-04B0-5443E513FC06}"/>
              </a:ext>
            </a:extLst>
          </p:cNvPr>
          <p:cNvSpPr/>
          <p:nvPr/>
        </p:nvSpPr>
        <p:spPr>
          <a:xfrm>
            <a:off x="0" y="6518032"/>
            <a:ext cx="12192000" cy="339968"/>
          </a:xfrm>
          <a:prstGeom prst="rect">
            <a:avLst/>
          </a:prstGeom>
          <a:solidFill>
            <a:srgbClr val="3658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Jingwei Liu 2253336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D4AFB8-04E4-C7C7-A079-E165C6FEC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84" y="1040447"/>
            <a:ext cx="10898232" cy="53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CNINFO Information Network (2026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300159 Xinyan Holding: Company profile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https://www.cninfo.com.cn/new/disclosure/stock?orgId=9900016190&amp;stockCode=300159#companyProfile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(Accessed: 13 April 2026).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Jiang, J. (2026)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ACC310 Accounting Fraud Detection and Analytics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lecture slides, Weeks 2-4.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(2023) </a:t>
            </a:r>
            <a:r>
              <a:rPr lang="en-US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Announcement on receiving the ‘Administrative Penalty Decision’ and the ‘Market Ban Decision’ issued by the China Securities Regulatory Commission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https://www.cninfo.com.cn/new/disclosure/detail?plate=szse&amp;orgId=9900016190&amp;stockCode=300159&amp;announcementId=1215651210&amp;announcementTime=2023-01-19</a:t>
            </a:r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(Accessed: 13 April 2026).</a:t>
            </a:r>
          </a:p>
          <a:p>
            <a:pPr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altLang="zh-C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reports (2016-2022), accessed via CNINFO:</a:t>
            </a:r>
            <a:endParaRPr lang="en-GB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(2017)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2016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https://www.cninfo.com.cn/new/disclosure/detail?plate=szse&amp;orgId=9900016190&amp;stockCode=300159&amp;announcementId=1203209065&amp;announcementTime=2017-03-28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(2018)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2017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https://www.cninfo.com.cn/new/disclosure/detail?plate=szse&amp;orgId=9900016190&amp;stockCode=300159&amp;announcementId=1204697067&amp;announcementTime=2018-04-24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(2019)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2018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https://www.cninfo.com.cn/new/disclosure/detail?plate=szse&amp;orgId=9900016190&amp;stockCode=300159&amp;announcementId=1206021572&amp;announcementTime=2019-04-16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(2020)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2019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https://www.cninfo.com.cn/new/disclosure/detail?plate=szse&amp;orgId=9900016190&amp;stockCode=300159&amp;announcementId=1207674950&amp;announcementTime=2020-04-29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(2021)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2020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https://www.cninfo.com.cn/new/disclosure/detail?plate=szse&amp;orgId=9900016190&amp;stockCode=300159&amp;announcementId=1209871694&amp;announcementTime=2021-04-30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(2022)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2021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https://www.cninfo.com.cn/new/disclosure/detail?plate=szse&amp;orgId=9900016190&amp;stockCode=300159&amp;announcementId=1213165841&amp;announcementTime=2022-04-28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Xinjiang Machinery Research Institute Co., Ltd. (2023) </a:t>
            </a:r>
            <a:r>
              <a:rPr lang="en-GB" altLang="zh-CN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2022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https://www.cninfo.com.cn/new/disclosure/detail?plate=szse&amp;orgId=9900016190&amp;stockCode=300159&amp;announcementId=1216593647&amp;announcementTime=2023-04-26</a:t>
            </a:r>
            <a:r>
              <a:rPr lang="en-GB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13 April 2026).</a:t>
            </a:r>
          </a:p>
        </p:txBody>
      </p:sp>
    </p:spTree>
    <p:extLst>
      <p:ext uri="{BB962C8B-B14F-4D97-AF65-F5344CB8AC3E}">
        <p14:creationId xmlns:p14="http://schemas.microsoft.com/office/powerpoint/2010/main" val="2255369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54ED-38B3-E767-6AA0-6664DCB5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箭头: V 形 35">
            <a:extLst>
              <a:ext uri="{FF2B5EF4-FFF2-40B4-BE49-F238E27FC236}">
                <a16:creationId xmlns:a16="http://schemas.microsoft.com/office/drawing/2014/main" id="{E5DDC788-224E-9B46-6C6A-15FD493E23DE}"/>
              </a:ext>
            </a:extLst>
          </p:cNvPr>
          <p:cNvSpPr/>
          <p:nvPr/>
        </p:nvSpPr>
        <p:spPr>
          <a:xfrm flipH="1">
            <a:off x="3890789" y="0"/>
            <a:ext cx="8007089" cy="5995552"/>
          </a:xfrm>
          <a:custGeom>
            <a:avLst/>
            <a:gdLst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0 w 9419121"/>
              <a:gd name="csY4" fmla="*/ 8199857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8782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43134 w 9419121"/>
              <a:gd name="csY4" fmla="*/ 6762942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5319193 w 9419121"/>
              <a:gd name="csY1" fmla="*/ 0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0 w 9419121"/>
              <a:gd name="csY0" fmla="*/ 0 h 8199857"/>
              <a:gd name="csX1" fmla="*/ 8727976 w 9419121"/>
              <a:gd name="csY1" fmla="*/ 3464767 h 8199857"/>
              <a:gd name="csX2" fmla="*/ 9419121 w 9419121"/>
              <a:gd name="csY2" fmla="*/ 4099929 h 8199857"/>
              <a:gd name="csX3" fmla="*/ 5319193 w 9419121"/>
              <a:gd name="csY3" fmla="*/ 8199857 h 8199857"/>
              <a:gd name="csX4" fmla="*/ 1412032 w 9419121"/>
              <a:gd name="csY4" fmla="*/ 6781604 h 8199857"/>
              <a:gd name="csX5" fmla="*/ 4099929 w 9419121"/>
              <a:gd name="csY5" fmla="*/ 4099929 h 8199857"/>
              <a:gd name="csX6" fmla="*/ 0 w 9419121"/>
              <a:gd name="csY6" fmla="*/ 0 h 8199857"/>
              <a:gd name="csX0" fmla="*/ 2065176 w 8007089"/>
              <a:gd name="csY0" fmla="*/ 24882 h 4735090"/>
              <a:gd name="csX1" fmla="*/ 7315944 w 8007089"/>
              <a:gd name="csY1" fmla="*/ 0 h 4735090"/>
              <a:gd name="csX2" fmla="*/ 8007089 w 8007089"/>
              <a:gd name="csY2" fmla="*/ 635162 h 4735090"/>
              <a:gd name="csX3" fmla="*/ 3907161 w 8007089"/>
              <a:gd name="csY3" fmla="*/ 4735090 h 4735090"/>
              <a:gd name="csX4" fmla="*/ 0 w 8007089"/>
              <a:gd name="csY4" fmla="*/ 3316837 h 4735090"/>
              <a:gd name="csX5" fmla="*/ 2687897 w 8007089"/>
              <a:gd name="csY5" fmla="*/ 635162 h 4735090"/>
              <a:gd name="csX6" fmla="*/ 2065176 w 8007089"/>
              <a:gd name="csY6" fmla="*/ 24882 h 4735090"/>
              <a:gd name="csX0" fmla="*/ 2065176 w 8007089"/>
              <a:gd name="csY0" fmla="*/ 24882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65176 w 8007089"/>
              <a:gd name="csY6" fmla="*/ 24882 h 5985392"/>
              <a:gd name="csX0" fmla="*/ 2071397 w 8007089"/>
              <a:gd name="csY0" fmla="*/ 12441 h 5985392"/>
              <a:gd name="csX1" fmla="*/ 7315944 w 8007089"/>
              <a:gd name="csY1" fmla="*/ 0 h 5985392"/>
              <a:gd name="csX2" fmla="*/ 8007089 w 8007089"/>
              <a:gd name="csY2" fmla="*/ 635162 h 5985392"/>
              <a:gd name="csX3" fmla="*/ 2650639 w 8007089"/>
              <a:gd name="csY3" fmla="*/ 5985392 h 5985392"/>
              <a:gd name="csX4" fmla="*/ 0 w 8007089"/>
              <a:gd name="csY4" fmla="*/ 3316837 h 5985392"/>
              <a:gd name="csX5" fmla="*/ 2687897 w 8007089"/>
              <a:gd name="csY5" fmla="*/ 635162 h 5985392"/>
              <a:gd name="csX6" fmla="*/ 2071397 w 8007089"/>
              <a:gd name="csY6" fmla="*/ 12441 h 5985392"/>
              <a:gd name="csX0" fmla="*/ 2015517 w 8007089"/>
              <a:gd name="csY0" fmla="*/ 0 h 5993271"/>
              <a:gd name="csX1" fmla="*/ 7315944 w 8007089"/>
              <a:gd name="csY1" fmla="*/ 7879 h 5993271"/>
              <a:gd name="csX2" fmla="*/ 8007089 w 8007089"/>
              <a:gd name="csY2" fmla="*/ 643041 h 5993271"/>
              <a:gd name="csX3" fmla="*/ 2650639 w 8007089"/>
              <a:gd name="csY3" fmla="*/ 5993271 h 5993271"/>
              <a:gd name="csX4" fmla="*/ 0 w 8007089"/>
              <a:gd name="csY4" fmla="*/ 3324716 h 5993271"/>
              <a:gd name="csX5" fmla="*/ 2687897 w 8007089"/>
              <a:gd name="csY5" fmla="*/ 643041 h 5993271"/>
              <a:gd name="csX6" fmla="*/ 2015517 w 8007089"/>
              <a:gd name="csY6" fmla="*/ 0 h 5993271"/>
              <a:gd name="csX0" fmla="*/ 2015517 w 8007089"/>
              <a:gd name="csY0" fmla="*/ 2281 h 5995552"/>
              <a:gd name="csX1" fmla="*/ 7315944 w 8007089"/>
              <a:gd name="csY1" fmla="*/ 0 h 5995552"/>
              <a:gd name="csX2" fmla="*/ 8007089 w 8007089"/>
              <a:gd name="csY2" fmla="*/ 645322 h 5995552"/>
              <a:gd name="csX3" fmla="*/ 2650639 w 8007089"/>
              <a:gd name="csY3" fmla="*/ 5995552 h 5995552"/>
              <a:gd name="csX4" fmla="*/ 0 w 8007089"/>
              <a:gd name="csY4" fmla="*/ 3326997 h 5995552"/>
              <a:gd name="csX5" fmla="*/ 2687897 w 8007089"/>
              <a:gd name="csY5" fmla="*/ 645322 h 5995552"/>
              <a:gd name="csX6" fmla="*/ 2015517 w 8007089"/>
              <a:gd name="csY6" fmla="*/ 2281 h 599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07089" h="5995552">
                <a:moveTo>
                  <a:pt x="2015517" y="2281"/>
                </a:moveTo>
                <a:lnTo>
                  <a:pt x="7315944" y="0"/>
                </a:lnTo>
                <a:lnTo>
                  <a:pt x="8007089" y="645322"/>
                </a:lnTo>
                <a:lnTo>
                  <a:pt x="2650639" y="5995552"/>
                </a:lnTo>
                <a:lnTo>
                  <a:pt x="0" y="3326997"/>
                </a:lnTo>
                <a:lnTo>
                  <a:pt x="2687897" y="645322"/>
                </a:lnTo>
                <a:lnTo>
                  <a:pt x="2015517" y="2281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94" t="-18450" r="94" b="-1638"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89491ED6-10BA-8827-E24F-23683D90F832}"/>
              </a:ext>
            </a:extLst>
          </p:cNvPr>
          <p:cNvSpPr/>
          <p:nvPr/>
        </p:nvSpPr>
        <p:spPr>
          <a:xfrm flipH="1">
            <a:off x="8460610" y="2669041"/>
            <a:ext cx="3412776" cy="3366143"/>
          </a:xfrm>
          <a:prstGeom prst="diamond">
            <a:avLst/>
          </a:prstGeom>
          <a:blipFill dpi="0" rotWithShape="0">
            <a:blip r:embed="rId5"/>
            <a:srcRect/>
            <a:stretch>
              <a:fillRect l="-694" t="-2537" r="-694" b="1149"/>
            </a:stretch>
          </a:blipFill>
          <a:ln w="381000" cmpd="thickThin">
            <a:solidFill>
              <a:srgbClr val="3658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cxnSp>
        <p:nvCxnSpPr>
          <p:cNvPr id="8" name="直线连接符 10">
            <a:extLst>
              <a:ext uri="{FF2B5EF4-FFF2-40B4-BE49-F238E27FC236}">
                <a16:creationId xmlns:a16="http://schemas.microsoft.com/office/drawing/2014/main" id="{111CE467-54C9-DB4D-789F-BC153B79EBF1}"/>
              </a:ext>
            </a:extLst>
          </p:cNvPr>
          <p:cNvCxnSpPr>
            <a:cxnSpLocks/>
          </p:cNvCxnSpPr>
          <p:nvPr/>
        </p:nvCxnSpPr>
        <p:spPr>
          <a:xfrm>
            <a:off x="11229046" y="922933"/>
            <a:ext cx="1053148" cy="1053548"/>
          </a:xfrm>
          <a:prstGeom prst="line">
            <a:avLst/>
          </a:prstGeom>
          <a:ln w="889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id="{57BD870E-45B6-694A-AAAC-DD9EB5B37A04}"/>
              </a:ext>
            </a:extLst>
          </p:cNvPr>
          <p:cNvCxnSpPr>
            <a:cxnSpLocks/>
          </p:cNvCxnSpPr>
          <p:nvPr/>
        </p:nvCxnSpPr>
        <p:spPr>
          <a:xfrm>
            <a:off x="10829159" y="0"/>
            <a:ext cx="1457409" cy="1457963"/>
          </a:xfrm>
          <a:prstGeom prst="line">
            <a:avLst/>
          </a:prstGeom>
          <a:ln w="50800">
            <a:solidFill>
              <a:srgbClr val="3658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菱形 10">
            <a:extLst>
              <a:ext uri="{FF2B5EF4-FFF2-40B4-BE49-F238E27FC236}">
                <a16:creationId xmlns:a16="http://schemas.microsoft.com/office/drawing/2014/main" id="{3964D984-F3E7-F323-D267-9727B740CA7E}"/>
              </a:ext>
            </a:extLst>
          </p:cNvPr>
          <p:cNvSpPr/>
          <p:nvPr/>
        </p:nvSpPr>
        <p:spPr>
          <a:xfrm flipH="1">
            <a:off x="7859593" y="3769515"/>
            <a:ext cx="1132552" cy="1132552"/>
          </a:xfrm>
          <a:prstGeom prst="diamond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F1E512-E28E-659F-6938-994640123902}"/>
              </a:ext>
            </a:extLst>
          </p:cNvPr>
          <p:cNvSpPr txBox="1"/>
          <p:nvPr/>
        </p:nvSpPr>
        <p:spPr>
          <a:xfrm>
            <a:off x="465436" y="3180902"/>
            <a:ext cx="6171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4000" b="1" kern="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Thank you for listening!</a:t>
            </a:r>
            <a:endParaRPr kumimoji="0" lang="en-US" altLang="zh-CN" sz="4000" b="1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思源黑体 CN Heavy" panose="020B0A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1F1744DD-3F7B-BD3F-2D82-CC8D340495D2}"/>
              </a:ext>
            </a:extLst>
          </p:cNvPr>
          <p:cNvSpPr/>
          <p:nvPr/>
        </p:nvSpPr>
        <p:spPr>
          <a:xfrm>
            <a:off x="5006608" y="3651425"/>
            <a:ext cx="5121" cy="13551"/>
          </a:xfrm>
          <a:custGeom>
            <a:avLst/>
            <a:gdLst>
              <a:gd name="connsiteX0" fmla="*/ 5121 w 5121"/>
              <a:gd name="connsiteY0" fmla="*/ 0 h 12833"/>
              <a:gd name="connsiteX1" fmla="*/ 0 w 5121"/>
              <a:gd name="connsiteY1" fmla="*/ 12833 h 12833"/>
              <a:gd name="connsiteX2" fmla="*/ 1509 w 5121"/>
              <a:gd name="connsiteY2" fmla="*/ 5357 h 12833"/>
              <a:gd name="connsiteX3" fmla="*/ 5121 w 5121"/>
              <a:gd name="connsiteY3" fmla="*/ 0 h 1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1" h="12833">
                <a:moveTo>
                  <a:pt x="5121" y="0"/>
                </a:moveTo>
                <a:lnTo>
                  <a:pt x="0" y="12833"/>
                </a:lnTo>
                <a:lnTo>
                  <a:pt x="1509" y="5357"/>
                </a:lnTo>
                <a:lnTo>
                  <a:pt x="5121" y="0"/>
                </a:lnTo>
                <a:close/>
              </a:path>
            </a:pathLst>
          </a:cu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黑体 CN Medium"/>
              <a:cs typeface="Times New Roman" panose="02020603050405020304" pitchFamily="18" charset="0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EC94264-E5F6-4804-ACB0-2D389C1C01D0}"/>
              </a:ext>
            </a:extLst>
          </p:cNvPr>
          <p:cNvSpPr/>
          <p:nvPr/>
        </p:nvSpPr>
        <p:spPr>
          <a:xfrm>
            <a:off x="7626943" y="3656747"/>
            <a:ext cx="1099" cy="2906"/>
          </a:xfrm>
          <a:custGeom>
            <a:avLst/>
            <a:gdLst>
              <a:gd name="connsiteX0" fmla="*/ 1099 w 1099"/>
              <a:gd name="connsiteY0" fmla="*/ 0 h 2752"/>
              <a:gd name="connsiteX1" fmla="*/ 775 w 1099"/>
              <a:gd name="connsiteY1" fmla="*/ 1603 h 2752"/>
              <a:gd name="connsiteX2" fmla="*/ 0 w 1099"/>
              <a:gd name="connsiteY2" fmla="*/ 2752 h 2752"/>
              <a:gd name="connsiteX3" fmla="*/ 1099 w 1099"/>
              <a:gd name="connsiteY3" fmla="*/ 0 h 2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" h="2752">
                <a:moveTo>
                  <a:pt x="1099" y="0"/>
                </a:moveTo>
                <a:lnTo>
                  <a:pt x="775" y="1603"/>
                </a:lnTo>
                <a:lnTo>
                  <a:pt x="0" y="2752"/>
                </a:lnTo>
                <a:lnTo>
                  <a:pt x="1099" y="0"/>
                </a:lnTo>
                <a:close/>
              </a:path>
            </a:pathLst>
          </a:cu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黑体 CN Medium"/>
              <a:cs typeface="Times New Roman" panose="02020603050405020304" pitchFamily="18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DDC3F9E-2B95-C779-1ABD-67F0586B2BF6}"/>
              </a:ext>
            </a:extLst>
          </p:cNvPr>
          <p:cNvGrpSpPr/>
          <p:nvPr/>
        </p:nvGrpSpPr>
        <p:grpSpPr>
          <a:xfrm>
            <a:off x="806454" y="4376753"/>
            <a:ext cx="3178819" cy="458074"/>
            <a:chOff x="974344" y="4568250"/>
            <a:chExt cx="3178819" cy="433798"/>
          </a:xfrm>
        </p:grpSpPr>
        <p:sp>
          <p:nvSpPr>
            <p:cNvPr id="28" name="文本框 18">
              <a:extLst>
                <a:ext uri="{FF2B5EF4-FFF2-40B4-BE49-F238E27FC236}">
                  <a16:creationId xmlns:a16="http://schemas.microsoft.com/office/drawing/2014/main" id="{C9609629-E804-35E5-A455-4C291C98FFD2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974344" y="4659551"/>
              <a:ext cx="3035121" cy="342497"/>
            </a:xfrm>
            <a:prstGeom prst="parallelogram">
              <a:avLst>
                <a:gd name="adj" fmla="val 87780"/>
              </a:avLst>
            </a:prstGeom>
            <a:solidFill>
              <a:srgbClr val="365886"/>
            </a:solidFill>
            <a:ln w="19050">
              <a:solidFill>
                <a:srgbClr val="B0ACAC"/>
              </a:solidFill>
            </a:ln>
            <a:effectLst>
              <a:outerShdw blurRad="508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wrap="square" lIns="91440" tIns="45720" rIns="91440" bIns="45720" rtlCol="0" anchor="ctr">
              <a:spAutoFit/>
            </a:bodyPr>
            <a:lstStyle/>
            <a:p>
              <a:pPr marL="0" marR="0" lvl="0" indent="0" algn="dist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D235608-7ACD-7C00-216C-EB27D09F34D9}"/>
                </a:ext>
              </a:extLst>
            </p:cNvPr>
            <p:cNvSpPr txBox="1"/>
            <p:nvPr/>
          </p:nvSpPr>
          <p:spPr>
            <a:xfrm flipH="1">
              <a:off x="1361804" y="4568250"/>
              <a:ext cx="2791359" cy="4337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Jingwei Liu  2253336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菱形 36">
            <a:extLst>
              <a:ext uri="{FF2B5EF4-FFF2-40B4-BE49-F238E27FC236}">
                <a16:creationId xmlns:a16="http://schemas.microsoft.com/office/drawing/2014/main" id="{608FDA36-02E6-BD8A-331F-456F80D62643}"/>
              </a:ext>
            </a:extLst>
          </p:cNvPr>
          <p:cNvSpPr/>
          <p:nvPr/>
        </p:nvSpPr>
        <p:spPr>
          <a:xfrm flipH="1">
            <a:off x="4230791" y="-540035"/>
            <a:ext cx="2406528" cy="2406528"/>
          </a:xfrm>
          <a:prstGeom prst="diamond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78A4FCF-71AE-F60D-C882-E40D305D1F36}"/>
              </a:ext>
            </a:extLst>
          </p:cNvPr>
          <p:cNvGrpSpPr/>
          <p:nvPr/>
        </p:nvGrpSpPr>
        <p:grpSpPr>
          <a:xfrm>
            <a:off x="6637319" y="4054229"/>
            <a:ext cx="3720993" cy="1781966"/>
            <a:chOff x="6637897" y="4069784"/>
            <a:chExt cx="3720993" cy="1781966"/>
          </a:xfrm>
        </p:grpSpPr>
        <p:sp>
          <p:nvSpPr>
            <p:cNvPr id="13" name="菱形 12">
              <a:extLst>
                <a:ext uri="{FF2B5EF4-FFF2-40B4-BE49-F238E27FC236}">
                  <a16:creationId xmlns:a16="http://schemas.microsoft.com/office/drawing/2014/main" id="{4A1192B2-C404-72B4-6B3A-E51F7FE16A31}"/>
                </a:ext>
              </a:extLst>
            </p:cNvPr>
            <p:cNvSpPr/>
            <p:nvPr/>
          </p:nvSpPr>
          <p:spPr>
            <a:xfrm flipH="1">
              <a:off x="6637897" y="4069784"/>
              <a:ext cx="838155" cy="838155"/>
            </a:xfrm>
            <a:prstGeom prst="diamond">
              <a:avLst/>
            </a:prstGeom>
            <a:solidFill>
              <a:srgbClr val="B0ACAC"/>
            </a:solidFill>
            <a:ln w="6350">
              <a:solidFill>
                <a:srgbClr val="3658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30D6104-E5F7-D3C1-5B24-B702243647DD}"/>
                </a:ext>
              </a:extLst>
            </p:cNvPr>
            <p:cNvSpPr/>
            <p:nvPr/>
          </p:nvSpPr>
          <p:spPr>
            <a:xfrm rot="2683774">
              <a:off x="7036686" y="5746567"/>
              <a:ext cx="3322204" cy="105183"/>
            </a:xfrm>
            <a:prstGeom prst="rect">
              <a:avLst/>
            </a:prstGeom>
            <a:solidFill>
              <a:srgbClr val="365886"/>
            </a:solidFill>
            <a:ln>
              <a:solidFill>
                <a:srgbClr val="3658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DE0D8A-599F-5C9E-63B5-C4682B2F89F4}"/>
              </a:ext>
            </a:extLst>
          </p:cNvPr>
          <p:cNvCxnSpPr>
            <a:cxnSpLocks/>
          </p:cNvCxnSpPr>
          <p:nvPr/>
        </p:nvCxnSpPr>
        <p:spPr>
          <a:xfrm>
            <a:off x="465436" y="4117030"/>
            <a:ext cx="54075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7631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2468</TotalTime>
  <Words>2354</Words>
  <Application>Microsoft Office PowerPoint</Application>
  <PresentationFormat>宽屏</PresentationFormat>
  <Paragraphs>347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Times New Roman</vt:lpstr>
      <vt:lpstr>Wingdings</vt:lpstr>
      <vt:lpstr>等线 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</dc:creator>
  <cp:lastModifiedBy>YuZzD_ _</cp:lastModifiedBy>
  <cp:revision>39</cp:revision>
  <dcterms:created xsi:type="dcterms:W3CDTF">2021-04-04T01:20:25Z</dcterms:created>
  <dcterms:modified xsi:type="dcterms:W3CDTF">2026-04-15T14:34:44Z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v1.0_mb_kguMPIsvq9FSt01KGYQ5tA==</vt:lpwstr>
  </property>
</Properties>
</file>